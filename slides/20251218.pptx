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64" r:id="rId4"/>
    <p:sldId id="263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C600F7-6B72-F3AD-8C69-526059608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93BAB1-59F8-9FBB-5DBB-E06924AAD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32ABE4-245E-CE41-36E8-3801435D2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EB191-3F46-E5A2-0D10-F0BF6B711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CF3216-1358-2913-E5EE-C9DCAC8C1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471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E33FB9-2A7E-F0A5-D17B-4767E0B9A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75ADB3-0F06-48FA-69F7-57F5CA10B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798C3-FB6F-BDAD-6B4A-6C445B0C3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160D96-E3C1-4D61-8800-ABF0CE955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5D3D0D-46A8-A743-8ABF-9BA7071C3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79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7920A-EA26-D382-E24A-1B386416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39D1C0-C37D-12FA-0D25-68F67E78C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EE6CAB-49CB-5404-4835-0BC3E71D6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728C89-C45D-6855-ABF5-D2EF75218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DA6FDB-FA25-8F71-9CE4-83636F5EF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745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C62E18-4453-6DEB-B40C-CD2D81B1F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4A4DF9-7C85-1FAF-9816-16C3CDB19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2A9494-DD73-02A3-C7B6-8F05616CB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C9527A-1605-7653-7CCF-39580F682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4C8DD-331C-D9D9-7872-6CC4E16C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42A237-BB62-8608-F758-8A0972301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819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360D5A-9D5C-9689-9B10-FA83B1A5E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26C1F5-03D6-81B7-9E30-61E5BFE8D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E37C45-C805-6CCE-9ADB-BF729371E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5031409-7F3E-E7F4-C69E-4878CDFC31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5681B89-2122-46B4-2828-B0890167E3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F417C3-70AD-8C62-0982-0DB7C4C5A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2CD5712-D9D7-272C-A163-2C8B24A0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47DD4F1-EB8F-0049-802E-3128C423C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123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49D364-9601-498C-AE16-B34101DD0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0BDF79B-135B-AE56-F976-2A347F17F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F11EAF4-0AC2-F56F-5E8D-F18780A22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E23DFF-D36E-FF74-4722-404513F84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30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21D5A7-2019-837F-93F5-F1D460B28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B424F25-0C5E-A414-EE9D-9CD094C18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EE107D-4061-D7AF-8884-AD0A47CA3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14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B999EF-2E5C-8998-F8EC-0725BB8A5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F73133-2475-FF08-8755-FA192072C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C87FBF-0D6C-BB59-88E9-4061540F6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2A87AA-1679-93CD-9FEB-316FF7EBE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E53B45-B69B-A63F-13A1-586B7533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6B9376-6C5C-E8A0-56D0-A5CBF207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08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0993B-8905-4A28-E46A-8392036BE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FC02B05-507D-4ADD-D4A4-36CE54E034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637A76-7414-15E2-37B7-A2D11F2A0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C6F4D3-B8DE-4AD9-8318-50182AADE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569634-3E1A-45F1-2538-35FC362A2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68CFD4-3935-59FF-04AB-743EEADAC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747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91672C-9584-ADBA-58FC-C4DAE6A87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3D049C-FDC8-CAAC-84DA-E8AF12441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CCEA9C-9A04-C93C-A42B-92872A7B4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5E360-0E79-04F8-5099-99204F413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FD7B21-B1F1-6A66-019C-9D3023A9F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84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1AC4D5A-FC74-BB97-C4FC-3887DF2216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909980-3F0E-2F7A-8C68-DBFB21EB8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EBD08A-8EDD-30AA-FCC7-DEE515A86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795A92-400D-8695-C73F-68A9C7923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4CE691-FE35-D142-C033-41172C71E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97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B301488-E2FD-10DA-438D-7C227ACBC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E4A784-9528-05B1-E5AD-0F42D8682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39E040-89AD-F21A-8E68-F6951EFDBF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67BA6-CBC2-4FF0-810E-3ED1BF2C4381}" type="datetimeFigureOut">
              <a:rPr lang="zh-CN" altLang="en-US" smtClean="0"/>
              <a:t>2025/12/18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10621E-343D-5ED1-73EE-C36E2F0D1B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A2FD49-3D39-0E28-39AE-E1D4302F1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492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clanthology.org/2025.emnlp-main.138.pd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898100F-D511-C3F5-4EF0-57F49F02315C}"/>
              </a:ext>
            </a:extLst>
          </p:cNvPr>
          <p:cNvSpPr txBox="1"/>
          <p:nvPr/>
        </p:nvSpPr>
        <p:spPr>
          <a:xfrm>
            <a:off x="479719" y="151179"/>
            <a:ext cx="11219222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Verbalized Sampling: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prompt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 You are a helpful assistant. For each query, please generate a set of five possible responses, each within a separate &lt;response&gt; tag. Responses should each include a &lt;text&gt; and a numeric &lt;probability&gt;. Please sample at random from the [full distribution / tails of the distribution, such that the probability of each response is less than 0.10].</a:t>
            </a:r>
          </a:p>
          <a:p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prompt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 …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&lt;response&gt;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&lt;text&gt;context&lt;/text&gt;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&lt;probability&gt;X&lt;/probability&gt;	X=The probability that the LLM will output this context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320490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CDB66FC-A478-A5D9-7F48-F4D1463C4666}"/>
              </a:ext>
            </a:extLst>
          </p:cNvPr>
          <p:cNvSpPr txBox="1"/>
          <p:nvPr/>
        </p:nvSpPr>
        <p:spPr>
          <a:xfrm>
            <a:off x="479719" y="151179"/>
            <a:ext cx="1121922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Comparison Experiment: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Confidence score vs Ranking vs Majority voting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From Generation to Judgment: Opportunities and Challenges of LLM-as-a-judge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Final Experiment datasets: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817 samples from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TruthfulQA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400 samples from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FreshQA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1067 samples from 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HotpotQA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04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B924336-BE1D-805E-6FF2-A38E6E583AAE}"/>
              </a:ext>
            </a:extLst>
          </p:cNvPr>
          <p:cNvSpPr txBox="1"/>
          <p:nvPr/>
        </p:nvSpPr>
        <p:spPr>
          <a:xfrm>
            <a:off x="479719" y="151179"/>
            <a:ext cx="11219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Experiment evaluation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 descr="图表, 条形图&#10;&#10;AI 生成的内容可能不正确。">
            <a:extLst>
              <a:ext uri="{FF2B5EF4-FFF2-40B4-BE49-F238E27FC236}">
                <a16:creationId xmlns:a16="http://schemas.microsoft.com/office/drawing/2014/main" id="{FB57E768-1592-5B5F-A7B9-87E562720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510" y="735954"/>
            <a:ext cx="4785360" cy="5189220"/>
          </a:xfrm>
          <a:prstGeom prst="rect">
            <a:avLst/>
          </a:prstGeom>
        </p:spPr>
      </p:pic>
      <p:pic>
        <p:nvPicPr>
          <p:cNvPr id="8" name="图片 7" descr="图表, 条形图&#10;&#10;AI 生成的内容可能不正确。">
            <a:extLst>
              <a:ext uri="{FF2B5EF4-FFF2-40B4-BE49-F238E27FC236}">
                <a16:creationId xmlns:a16="http://schemas.microsoft.com/office/drawing/2014/main" id="{4925B989-5A23-5FC7-C0F7-4E34F783E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130" y="735954"/>
            <a:ext cx="4785360" cy="518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528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5B9A-31CF-8F79-EE06-A27A4F0A0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DCC2F5A7-2FAD-0E56-694F-3D8F18AB4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792478"/>
              </p:ext>
            </p:extLst>
          </p:nvPr>
        </p:nvGraphicFramePr>
        <p:xfrm>
          <a:off x="5473609" y="735954"/>
          <a:ext cx="6238673" cy="1283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239">
                  <a:extLst>
                    <a:ext uri="{9D8B030D-6E8A-4147-A177-3AD203B41FA5}">
                      <a16:colId xmlns:a16="http://schemas.microsoft.com/office/drawing/2014/main" val="4101249701"/>
                    </a:ext>
                  </a:extLst>
                </a:gridCol>
                <a:gridCol w="891239">
                  <a:extLst>
                    <a:ext uri="{9D8B030D-6E8A-4147-A177-3AD203B41FA5}">
                      <a16:colId xmlns:a16="http://schemas.microsoft.com/office/drawing/2014/main" val="64436008"/>
                    </a:ext>
                  </a:extLst>
                </a:gridCol>
                <a:gridCol w="891239">
                  <a:extLst>
                    <a:ext uri="{9D8B030D-6E8A-4147-A177-3AD203B41FA5}">
                      <a16:colId xmlns:a16="http://schemas.microsoft.com/office/drawing/2014/main" val="2870068380"/>
                    </a:ext>
                  </a:extLst>
                </a:gridCol>
                <a:gridCol w="891239">
                  <a:extLst>
                    <a:ext uri="{9D8B030D-6E8A-4147-A177-3AD203B41FA5}">
                      <a16:colId xmlns:a16="http://schemas.microsoft.com/office/drawing/2014/main" val="2903000029"/>
                    </a:ext>
                  </a:extLst>
                </a:gridCol>
                <a:gridCol w="891239">
                  <a:extLst>
                    <a:ext uri="{9D8B030D-6E8A-4147-A177-3AD203B41FA5}">
                      <a16:colId xmlns:a16="http://schemas.microsoft.com/office/drawing/2014/main" val="3141391406"/>
                    </a:ext>
                  </a:extLst>
                </a:gridCol>
                <a:gridCol w="891239">
                  <a:extLst>
                    <a:ext uri="{9D8B030D-6E8A-4147-A177-3AD203B41FA5}">
                      <a16:colId xmlns:a16="http://schemas.microsoft.com/office/drawing/2014/main" val="1620127239"/>
                    </a:ext>
                  </a:extLst>
                </a:gridCol>
                <a:gridCol w="891239">
                  <a:extLst>
                    <a:ext uri="{9D8B030D-6E8A-4147-A177-3AD203B41FA5}">
                      <a16:colId xmlns:a16="http://schemas.microsoft.com/office/drawing/2014/main" val="2425524162"/>
                    </a:ext>
                  </a:extLst>
                </a:gridCol>
              </a:tblGrid>
              <a:tr h="673835"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Average Token Cost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Chain-of-Thought (</a:t>
                      </a:r>
                      <a:r>
                        <a:rPr lang="en-US" altLang="zh-CN" sz="12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CoT</a:t>
                      </a: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Chain-of-Verification (CoVe)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CoVe - Search Engine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our approach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our approach</a:t>
                      </a:r>
                      <a:r>
                        <a:rPr lang="zh-CN" alt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mutations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our approach - vs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647714"/>
                  </a:ext>
                </a:extLst>
              </a:tr>
              <a:tr h="2807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gpt-4o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101.73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2633.25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3808.19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197.15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1763.87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596.13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162633"/>
                  </a:ext>
                </a:extLst>
              </a:tr>
              <a:tr h="2807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gpt-5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87.03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6824.61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7828.29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188.51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1775.89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580.05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985772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469CD08E-F3B2-84D2-93AA-148551C0E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88838"/>
              </p:ext>
            </p:extLst>
          </p:nvPr>
        </p:nvGraphicFramePr>
        <p:xfrm>
          <a:off x="5473609" y="2019389"/>
          <a:ext cx="6225331" cy="1276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333">
                  <a:extLst>
                    <a:ext uri="{9D8B030D-6E8A-4147-A177-3AD203B41FA5}">
                      <a16:colId xmlns:a16="http://schemas.microsoft.com/office/drawing/2014/main" val="4101249701"/>
                    </a:ext>
                  </a:extLst>
                </a:gridCol>
                <a:gridCol w="889333">
                  <a:extLst>
                    <a:ext uri="{9D8B030D-6E8A-4147-A177-3AD203B41FA5}">
                      <a16:colId xmlns:a16="http://schemas.microsoft.com/office/drawing/2014/main" val="64436008"/>
                    </a:ext>
                  </a:extLst>
                </a:gridCol>
                <a:gridCol w="889333">
                  <a:extLst>
                    <a:ext uri="{9D8B030D-6E8A-4147-A177-3AD203B41FA5}">
                      <a16:colId xmlns:a16="http://schemas.microsoft.com/office/drawing/2014/main" val="2870068380"/>
                    </a:ext>
                  </a:extLst>
                </a:gridCol>
                <a:gridCol w="889333">
                  <a:extLst>
                    <a:ext uri="{9D8B030D-6E8A-4147-A177-3AD203B41FA5}">
                      <a16:colId xmlns:a16="http://schemas.microsoft.com/office/drawing/2014/main" val="2903000029"/>
                    </a:ext>
                  </a:extLst>
                </a:gridCol>
                <a:gridCol w="889333">
                  <a:extLst>
                    <a:ext uri="{9D8B030D-6E8A-4147-A177-3AD203B41FA5}">
                      <a16:colId xmlns:a16="http://schemas.microsoft.com/office/drawing/2014/main" val="3141391406"/>
                    </a:ext>
                  </a:extLst>
                </a:gridCol>
                <a:gridCol w="889333">
                  <a:extLst>
                    <a:ext uri="{9D8B030D-6E8A-4147-A177-3AD203B41FA5}">
                      <a16:colId xmlns:a16="http://schemas.microsoft.com/office/drawing/2014/main" val="4228366896"/>
                    </a:ext>
                  </a:extLst>
                </a:gridCol>
                <a:gridCol w="889333">
                  <a:extLst>
                    <a:ext uri="{9D8B030D-6E8A-4147-A177-3AD203B41FA5}">
                      <a16:colId xmlns:a16="http://schemas.microsoft.com/office/drawing/2014/main" val="3963888700"/>
                    </a:ext>
                  </a:extLst>
                </a:gridCol>
              </a:tblGrid>
              <a:tr h="6666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Average Time Cost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Chain-of-Thought (</a:t>
                      </a:r>
                      <a:r>
                        <a:rPr lang="en-US" altLang="zh-CN" sz="12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CoT</a:t>
                      </a: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Chain-of-Verification (</a:t>
                      </a:r>
                      <a:r>
                        <a:rPr lang="en-US" altLang="zh-CN" sz="12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CoVe</a:t>
                      </a: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CoVe</a:t>
                      </a: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- Search Engine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our approach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our approach</a:t>
                      </a:r>
                      <a:r>
                        <a:rPr lang="zh-CN" alt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mutations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our approach - vs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647714"/>
                  </a:ext>
                </a:extLst>
              </a:tr>
              <a:tr h="2777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gpt-4o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30.0015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35.7001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1.8135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11.2498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4.4483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162633"/>
                  </a:ext>
                </a:extLst>
              </a:tr>
              <a:tr h="2777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gpt-5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12.4434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202.180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142.808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21.4348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187.810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36.9961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985772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C0CCBC1A-83EC-228E-417D-8BB79203B20F}"/>
              </a:ext>
            </a:extLst>
          </p:cNvPr>
          <p:cNvSpPr txBox="1"/>
          <p:nvPr/>
        </p:nvSpPr>
        <p:spPr>
          <a:xfrm>
            <a:off x="479719" y="151179"/>
            <a:ext cx="11219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Experiment evaluation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 descr="图表, 条形图&#10;&#10;AI 生成的内容可能不正确。">
            <a:extLst>
              <a:ext uri="{FF2B5EF4-FFF2-40B4-BE49-F238E27FC236}">
                <a16:creationId xmlns:a16="http://schemas.microsoft.com/office/drawing/2014/main" id="{E0732084-029F-0C9E-16EA-D9609DBC2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59" y="735954"/>
            <a:ext cx="4785360" cy="518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06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4030</TotalTime>
  <Words>231</Words>
  <Application>Microsoft Office PowerPoint</Application>
  <PresentationFormat>宽屏</PresentationFormat>
  <Paragraphs>63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Borui Yang</dc:creator>
  <cp:lastModifiedBy>zbybr-PC</cp:lastModifiedBy>
  <cp:revision>27</cp:revision>
  <dcterms:created xsi:type="dcterms:W3CDTF">2025-10-23T01:47:16Z</dcterms:created>
  <dcterms:modified xsi:type="dcterms:W3CDTF">2025-12-18T12:31:13Z</dcterms:modified>
</cp:coreProperties>
</file>