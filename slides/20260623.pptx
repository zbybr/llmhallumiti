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2" r:id="rId3"/>
    <p:sldId id="261" r:id="rId4"/>
    <p:sldId id="263" r:id="rId5"/>
    <p:sldId id="257" r:id="rId6"/>
    <p:sldId id="256" r:id="rId7"/>
    <p:sldId id="260" r:id="rId8"/>
    <p:sldId id="258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AE7D75-ED67-1EE4-FC52-F443813A35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5F7D10F-24D0-66CE-74EE-5A3B0C7DA2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32B181-CDC1-EACD-35C9-4A4EDCBFE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DE24F-FF1E-4B9F-BDD2-F1F8F433612D}" type="datetimeFigureOut">
              <a:rPr lang="zh-CN" altLang="en-US" smtClean="0"/>
              <a:t>2026/6/23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0E8665F-F289-4990-4B47-FF558D08A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6CC725B-BF2F-AB5F-34F0-F0A7070CF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73900-FA24-463F-9603-519BA6D514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06712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0375AF-9325-EE47-AF4C-2A7153074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BA22D08-0C55-6EAE-C2F3-C85A49841E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19C6E1E-B492-765C-1877-8A3CB7E263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DE24F-FF1E-4B9F-BDD2-F1F8F433612D}" type="datetimeFigureOut">
              <a:rPr lang="zh-CN" altLang="en-US" smtClean="0"/>
              <a:t>2026/6/23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397E074-760D-E29E-AD7F-70510699B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EB5B88A-D67F-A81C-DD86-4493173D3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73900-FA24-463F-9603-519BA6D514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40085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5C77C4-3D29-1710-22A9-DCA9346D3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FE391E7-9167-8F69-EE4F-CB6505011E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B4EF7CC-2BDD-B35D-9996-2271639FA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DE24F-FF1E-4B9F-BDD2-F1F8F433612D}" type="datetimeFigureOut">
              <a:rPr lang="zh-CN" altLang="en-US" smtClean="0"/>
              <a:t>2026/6/23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15E971-7B2B-2AF8-03E8-BB2C1A0FF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18A416D-1680-6D46-BB95-D62E3D7E4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73900-FA24-463F-9603-519BA6D514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53710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CBB953-D687-FD87-9D79-342C4185F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829E270-CC16-06BC-774F-455F91B396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7B49B1F-48C2-F605-EB46-3917B83EC7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A6EAE1E-6304-11BA-A5E2-2B982093E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DE24F-FF1E-4B9F-BDD2-F1F8F433612D}" type="datetimeFigureOut">
              <a:rPr lang="zh-CN" altLang="en-US" smtClean="0"/>
              <a:t>2026/6/23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685CDC8-D97A-0DEA-4315-16DCA73F5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04B3419-05AE-3A12-C3CA-F06F0D096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73900-FA24-463F-9603-519BA6D514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98190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44E2D8-23CE-B19C-0A75-3C4BF6F867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5242CB0-6F56-F581-F075-9F444CC3FC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0749913-5E19-684E-DAFD-E6E8FB11DE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FE57C2F-9FF7-4DF8-1EC7-33017C1BB5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D675144-C61E-D69C-835A-537A39FD19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88B9F4A-4CB9-16DA-B8DD-D7B7CBA77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DE24F-FF1E-4B9F-BDD2-F1F8F433612D}" type="datetimeFigureOut">
              <a:rPr lang="zh-CN" altLang="en-US" smtClean="0"/>
              <a:t>2026/6/23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AF934C0-4136-73B9-10CB-03DC382B3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B1FE3BD-5AAD-9178-D5E8-1A129EB06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73900-FA24-463F-9603-519BA6D514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72747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4B1D5F-3D25-6B45-EEF5-37C0344BC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89F488F-02E5-5737-279D-43E55807C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DE24F-FF1E-4B9F-BDD2-F1F8F433612D}" type="datetimeFigureOut">
              <a:rPr lang="zh-CN" altLang="en-US" smtClean="0"/>
              <a:t>2026/6/23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8433426-7A62-5552-C217-1D8D17B83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567E713-E307-9910-FA89-728446C43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73900-FA24-463F-9603-519BA6D514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0517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C525A55-DBA8-D7AA-F85E-EFC936B6F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DE24F-FF1E-4B9F-BDD2-F1F8F433612D}" type="datetimeFigureOut">
              <a:rPr lang="zh-CN" altLang="en-US" smtClean="0"/>
              <a:t>2026/6/23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7FACF4A-C474-8B92-A4B6-BFF923C50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F7D09EF-7BAF-3996-3472-4B4A0B9C2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73900-FA24-463F-9603-519BA6D514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08778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F9CDB4-6E95-2B5E-14CE-2F255E11C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22B5FA-C9DF-C949-B159-6F47194EE9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2CABD90-A46D-0D79-3164-E06DAB462D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953777D-1BAB-CA4A-7EA1-F9AD28557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DE24F-FF1E-4B9F-BDD2-F1F8F433612D}" type="datetimeFigureOut">
              <a:rPr lang="zh-CN" altLang="en-US" smtClean="0"/>
              <a:t>2026/6/23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8E5D2CD-E833-2289-5A41-1187BCBDA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3014888-E3B9-17A0-D546-E68A0331A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73900-FA24-463F-9603-519BA6D514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29553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F94DFA-12B4-A541-06D8-A2A162B408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41196EC-AC0D-81C4-848B-3829C006ED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064DC43-BF96-D262-22AF-AD1B31426D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7322891-F920-F560-18AF-D7C5E5022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DE24F-FF1E-4B9F-BDD2-F1F8F433612D}" type="datetimeFigureOut">
              <a:rPr lang="zh-CN" altLang="en-US" smtClean="0"/>
              <a:t>2026/6/23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AFAB8DB-8018-6C43-D842-570A77C6C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C0CFCD5-C942-A354-F967-F2ED0B323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73900-FA24-463F-9603-519BA6D514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87594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0711F2-90CC-1065-5BC5-220DB34C0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8192CC7-E9DD-D75A-3728-B2237691C9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F032BEA-91DF-AD26-CDB3-4F1F4D77A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DE24F-FF1E-4B9F-BDD2-F1F8F433612D}" type="datetimeFigureOut">
              <a:rPr lang="zh-CN" altLang="en-US" smtClean="0"/>
              <a:t>2026/6/23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33392D2-AD11-CC46-BAA5-88EB400F5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03F7167-39BE-6D64-E6F7-9A4634E80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73900-FA24-463F-9603-519BA6D514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8101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8B85EB4-276D-70E5-2C9C-7CA1053B56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842EAB7-51C5-20F8-7DC4-9D56BD88C1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26A4AF-5E81-EF8E-DEDD-10A7F280E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DE24F-FF1E-4B9F-BDD2-F1F8F433612D}" type="datetimeFigureOut">
              <a:rPr lang="zh-CN" altLang="en-US" smtClean="0"/>
              <a:t>2026/6/23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8069B54-C98C-B363-449A-6B59C9FD3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7514994-C64B-DE81-54F7-E721C48F6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73900-FA24-463F-9603-519BA6D514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49622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24733CD-5870-B3B1-9879-59A66DF425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C4632E2-A9D2-7678-5A78-25A880A5E8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9372C0B-0F6F-3184-159B-46543C2745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FDE24F-FF1E-4B9F-BDD2-F1F8F433612D}" type="datetimeFigureOut">
              <a:rPr lang="zh-CN" altLang="en-US" smtClean="0"/>
              <a:t>2026/6/23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A0F8C50-D9BE-BFCA-DDAA-F338C29B0D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66219DA-1924-B8B8-020A-5C68C13F8E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E73900-FA24-463F-9603-519BA6D514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42631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huggingface.co/datasets/newfacade/LeetCodeDataset" TargetMode="Externa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package" Target="../embeddings/Microsoft_Excel_Worksheet.xlsx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package" Target="../embeddings/Microsoft_Excel_Worksheet1.xlsx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package" Target="../embeddings/Microsoft_Excel_Worksheet2.xlsx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2723B4-2382-1315-F82F-43DE583E0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DD0ACEA-F84B-1D16-4EB7-D5707C3C06D4}"/>
              </a:ext>
            </a:extLst>
          </p:cNvPr>
          <p:cNvSpPr txBox="1"/>
          <p:nvPr/>
        </p:nvSpPr>
        <p:spPr>
          <a:xfrm>
            <a:off x="421342" y="277906"/>
            <a:ext cx="11376211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Comments from ISSTA reviewers:</a:t>
            </a:r>
          </a:p>
          <a:p>
            <a:endParaRPr lang="en-US" altLang="zh-C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AutoNum type="arabicPeriod"/>
            </a:pPr>
            <a:r>
              <a:rPr lang="en-US" altLang="zh-C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Lack connection to SE domain</a:t>
            </a:r>
          </a:p>
          <a:p>
            <a:pPr marL="457200" indent="-457200">
              <a:buAutoNum type="arabicPeriod"/>
            </a:pPr>
            <a:r>
              <a:rPr lang="en-US" altLang="zh-C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Baseline coverage is not convincing</a:t>
            </a:r>
          </a:p>
          <a:p>
            <a:pPr marL="457200" indent="-457200">
              <a:buAutoNum type="arabicPeriod"/>
            </a:pPr>
            <a:r>
              <a:rPr lang="en-US" altLang="zh-C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Doubt in the usage of Metamorphic Relation</a:t>
            </a:r>
          </a:p>
        </p:txBody>
      </p:sp>
    </p:spTree>
    <p:extLst>
      <p:ext uri="{BB962C8B-B14F-4D97-AF65-F5344CB8AC3E}">
        <p14:creationId xmlns:p14="http://schemas.microsoft.com/office/powerpoint/2010/main" val="16135716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FB5F35-AA81-A4F6-0C67-9D824F6B9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43A604F0-D1A4-A280-275F-10E9E95E7A80}"/>
              </a:ext>
            </a:extLst>
          </p:cNvPr>
          <p:cNvSpPr txBox="1"/>
          <p:nvPr/>
        </p:nvSpPr>
        <p:spPr>
          <a:xfrm>
            <a:off x="421342" y="277906"/>
            <a:ext cx="1137621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LeetCode</a:t>
            </a:r>
            <a:r>
              <a:rPr lang="en-US" altLang="zh-C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dataset:</a:t>
            </a:r>
          </a:p>
          <a:p>
            <a:endParaRPr lang="en-US" altLang="zh-C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Randomly sampled 200 samples from here: </a:t>
            </a:r>
            <a:r>
              <a:rPr lang="en-US" altLang="zh-C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 tooltip="https://huggingface.co/datasets/newfacade/leetcodedataset"/>
              </a:rPr>
              <a:t>https://huggingface.co/datasets/newfacade/LeetCodeDataset</a:t>
            </a:r>
            <a:endParaRPr lang="en-US" altLang="zh-C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Including easy, medium and hard level coding problem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altLang="zh-C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65688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62F125-BCBE-6730-1D87-EE6F2C7A2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BFD61949-C1BD-2C4C-38C9-20B5A0C4E81F}"/>
              </a:ext>
            </a:extLst>
          </p:cNvPr>
          <p:cNvSpPr txBox="1"/>
          <p:nvPr/>
        </p:nvSpPr>
        <p:spPr>
          <a:xfrm>
            <a:off x="421342" y="277906"/>
            <a:ext cx="11376211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MutRepair</a:t>
            </a:r>
            <a:r>
              <a:rPr lang="en-US" altLang="zh-C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</a:t>
            </a:r>
            <a:r>
              <a:rPr lang="en-US" altLang="zh-CN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Leetcode</a:t>
            </a:r>
            <a:r>
              <a:rPr lang="en-US" altLang="zh-C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dataset</a:t>
            </a:r>
          </a:p>
          <a:p>
            <a:endParaRPr lang="en-US" altLang="zh-C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Step 1: Mutation generation guided by Metamorphic Relations</a:t>
            </a:r>
          </a:p>
          <a:p>
            <a:r>
              <a:rPr lang="en-US" altLang="zh-CN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prompt = ‘Given a </a:t>
            </a:r>
            <a:r>
              <a:rPr lang="en-US" altLang="zh-CN" dirty="0" err="1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LeetCode</a:t>
            </a:r>
            <a:r>
              <a:rPr lang="en-US" altLang="zh-CN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problem and a base solution, generate {n} diverse mutations of the solution. Each mutation must be a COMPLETE, RUNNABLE Python solution that preserves the class/function signature shown in the starter code.</a:t>
            </a:r>
            <a:br>
              <a:rPr lang="en-US" altLang="zh-CN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zh-CN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Apply the following metamorphic relation types (use each at least once):</a:t>
            </a:r>
          </a:p>
          <a:p>
            <a:r>
              <a:rPr lang="en-US" altLang="zh-CN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Meaning-Preserving Rewrite</a:t>
            </a:r>
          </a:p>
          <a:p>
            <a:r>
              <a:rPr lang="en-US" altLang="zh-CN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Structural Transformation</a:t>
            </a:r>
          </a:p>
          <a:p>
            <a:r>
              <a:rPr lang="en-US" altLang="zh-CN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Semantic Polarity Shift</a:t>
            </a:r>
          </a:p>
          <a:p>
            <a:r>
              <a:rPr lang="en-US" altLang="zh-CN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 Algorithm / Data-Structure Variant …’</a:t>
            </a:r>
          </a:p>
          <a:p>
            <a:endParaRPr lang="en-US" altLang="zh-C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Step 2: LLM self-check with fault-assumption-injected prompt</a:t>
            </a:r>
          </a:p>
          <a:p>
            <a:r>
              <a:rPr lang="en-US" altLang="zh-C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Step 3: Pairwise ranking by LLM</a:t>
            </a:r>
          </a:p>
          <a:p>
            <a:r>
              <a:rPr lang="en-US" altLang="zh-C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Step 4: Final output</a:t>
            </a:r>
          </a:p>
        </p:txBody>
      </p:sp>
    </p:spTree>
    <p:extLst>
      <p:ext uri="{BB962C8B-B14F-4D97-AF65-F5344CB8AC3E}">
        <p14:creationId xmlns:p14="http://schemas.microsoft.com/office/powerpoint/2010/main" val="12976675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1FB161-1902-535C-7D54-793AC4876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D58B5AB-5ED8-27DB-0AAE-7D2751604FA7}"/>
              </a:ext>
            </a:extLst>
          </p:cNvPr>
          <p:cNvSpPr txBox="1"/>
          <p:nvPr/>
        </p:nvSpPr>
        <p:spPr>
          <a:xfrm>
            <a:off x="421342" y="277906"/>
            <a:ext cx="11376211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DrHall-ECMR3 from FSE25:</a:t>
            </a:r>
          </a:p>
          <a:p>
            <a:endParaRPr lang="en-US" altLang="zh-C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DrHall</a:t>
            </a:r>
            <a:r>
              <a:rPr lang="en-US" altLang="zh-C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a hallucination detection and correction method that using MR to perturb the original question without altering its core semantic meaning. (MR -&gt; Question)</a:t>
            </a:r>
          </a:p>
          <a:p>
            <a:r>
              <a:rPr lang="en-US" altLang="zh-C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ECMR3 is the best performance branch in </a:t>
            </a:r>
            <a:r>
              <a:rPr lang="en-US" altLang="zh-CN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DrHall</a:t>
            </a:r>
            <a:r>
              <a:rPr lang="en-US" altLang="zh-C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also can run without external resources.</a:t>
            </a:r>
          </a:p>
        </p:txBody>
      </p:sp>
    </p:spTree>
    <p:extLst>
      <p:ext uri="{BB962C8B-B14F-4D97-AF65-F5344CB8AC3E}">
        <p14:creationId xmlns:p14="http://schemas.microsoft.com/office/powerpoint/2010/main" val="24272176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88CFF-A3EB-181D-2D24-3284B77934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7AAA0C64-1357-A780-D648-960044474474}"/>
              </a:ext>
            </a:extLst>
          </p:cNvPr>
          <p:cNvSpPr txBox="1"/>
          <p:nvPr/>
        </p:nvSpPr>
        <p:spPr>
          <a:xfrm>
            <a:off x="421342" y="277906"/>
            <a:ext cx="6784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Experiment results of new baseline </a:t>
            </a:r>
            <a:r>
              <a:rPr lang="en-US" altLang="zh-CN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DrHall</a:t>
            </a:r>
            <a:r>
              <a:rPr lang="en-US" altLang="zh-C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on </a:t>
            </a:r>
            <a:r>
              <a:rPr lang="en-US" altLang="zh-CN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Leetcode</a:t>
            </a:r>
            <a:r>
              <a:rPr lang="en-US" altLang="zh-C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dataset:</a:t>
            </a: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55FD3C23-16EF-6A21-E2CB-C670D188A0D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2894127"/>
              </p:ext>
            </p:extLst>
          </p:nvPr>
        </p:nvGraphicFramePr>
        <p:xfrm>
          <a:off x="421342" y="678016"/>
          <a:ext cx="11349316" cy="41084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6867530" imgH="2485854" progId="Excel.Sheet.12">
                  <p:embed/>
                </p:oleObj>
              </mc:Choice>
              <mc:Fallback>
                <p:oleObj name="Worksheet" r:id="rId2" imgW="6867530" imgH="2485854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21342" y="678016"/>
                        <a:ext cx="11349316" cy="410842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49FA48DD-ADEF-2B62-8EBC-0C8998E355ED}"/>
              </a:ext>
            </a:extLst>
          </p:cNvPr>
          <p:cNvSpPr txBox="1"/>
          <p:nvPr/>
        </p:nvSpPr>
        <p:spPr>
          <a:xfrm>
            <a:off x="421342" y="4786437"/>
            <a:ext cx="897880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BHS = base hallucination samples, BHR = base hallucination rate, total samples = 200</a:t>
            </a:r>
          </a:p>
          <a:p>
            <a:r>
              <a:rPr lang="en-US" altLang="zh-C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RHS = recheck hallucination samples, RHR = recheck hallucination rate</a:t>
            </a:r>
          </a:p>
          <a:p>
            <a:r>
              <a:rPr lang="en-US" altLang="zh-C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HRS = hallucination repair samples, HRR = hallucination repair rate</a:t>
            </a:r>
          </a:p>
          <a:p>
            <a:r>
              <a:rPr lang="en-US" altLang="zh-C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OCS = overcorrection samples, OCR = overcorrection rate</a:t>
            </a:r>
          </a:p>
        </p:txBody>
      </p:sp>
    </p:spTree>
    <p:extLst>
      <p:ext uri="{BB962C8B-B14F-4D97-AF65-F5344CB8AC3E}">
        <p14:creationId xmlns:p14="http://schemas.microsoft.com/office/powerpoint/2010/main" val="28108428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59B64CE-BEEE-EB55-1346-CBA609C20C13}"/>
              </a:ext>
            </a:extLst>
          </p:cNvPr>
          <p:cNvSpPr txBox="1"/>
          <p:nvPr/>
        </p:nvSpPr>
        <p:spPr>
          <a:xfrm>
            <a:off x="421342" y="277906"/>
            <a:ext cx="62573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Experiment results of new baseline </a:t>
            </a:r>
            <a:r>
              <a:rPr lang="en-US" altLang="zh-CN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DrHall</a:t>
            </a:r>
            <a:r>
              <a:rPr lang="en-US" altLang="zh-C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on QA datasets:</a:t>
            </a: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F8BA24DB-BB68-3202-0CFB-6DAAD590138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8494704"/>
              </p:ext>
            </p:extLst>
          </p:nvPr>
        </p:nvGraphicFramePr>
        <p:xfrm>
          <a:off x="421342" y="678016"/>
          <a:ext cx="11017623" cy="48591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9610730" imgH="4238758" progId="Excel.Sheet.12">
                  <p:embed/>
                </p:oleObj>
              </mc:Choice>
              <mc:Fallback>
                <p:oleObj name="Worksheet" r:id="rId2" imgW="9610730" imgH="4238758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21342" y="678016"/>
                        <a:ext cx="11017623" cy="48591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09C017DF-4BDF-ABE9-5A52-5057F4CE8D1D}"/>
              </a:ext>
            </a:extLst>
          </p:cNvPr>
          <p:cNvSpPr txBox="1"/>
          <p:nvPr/>
        </p:nvSpPr>
        <p:spPr>
          <a:xfrm>
            <a:off x="421342" y="5518264"/>
            <a:ext cx="747884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RHS = recheck hallucination samples, RHR = recheck hallucination rate</a:t>
            </a:r>
          </a:p>
          <a:p>
            <a:r>
              <a:rPr lang="en-US" altLang="zh-C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HRS = hallucination repair samples, HRR = hallucination repair rate</a:t>
            </a:r>
          </a:p>
          <a:p>
            <a:r>
              <a:rPr lang="en-US" altLang="zh-C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OCS = overcorrection samples, OCR = overcorrection rate</a:t>
            </a:r>
          </a:p>
        </p:txBody>
      </p:sp>
    </p:spTree>
    <p:extLst>
      <p:ext uri="{BB962C8B-B14F-4D97-AF65-F5344CB8AC3E}">
        <p14:creationId xmlns:p14="http://schemas.microsoft.com/office/powerpoint/2010/main" val="20216417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49D717-B036-9C6E-95D1-A85532C3D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4AEAA450-E030-3E06-DD7B-ABE3CC6A497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7958283"/>
              </p:ext>
            </p:extLst>
          </p:nvPr>
        </p:nvGraphicFramePr>
        <p:xfrm>
          <a:off x="421342" y="678016"/>
          <a:ext cx="4652962" cy="562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3314507" imgH="4009873" progId="Excel.Sheet.12">
                  <p:embed/>
                </p:oleObj>
              </mc:Choice>
              <mc:Fallback>
                <p:oleObj name="Worksheet" r:id="rId2" imgW="3314507" imgH="4009873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21342" y="678016"/>
                        <a:ext cx="4652962" cy="56292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458C25A8-B215-D07E-9DB9-A7CF258F960E}"/>
              </a:ext>
            </a:extLst>
          </p:cNvPr>
          <p:cNvSpPr txBox="1"/>
          <p:nvPr/>
        </p:nvSpPr>
        <p:spPr>
          <a:xfrm>
            <a:off x="421342" y="277906"/>
            <a:ext cx="62573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Computation cost of new baseline </a:t>
            </a:r>
            <a:r>
              <a:rPr lang="en-US" altLang="zh-CN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DrHall</a:t>
            </a:r>
            <a:r>
              <a:rPr lang="en-US" altLang="zh-C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on QA datasets:</a:t>
            </a:r>
          </a:p>
        </p:txBody>
      </p:sp>
    </p:spTree>
    <p:extLst>
      <p:ext uri="{BB962C8B-B14F-4D97-AF65-F5344CB8AC3E}">
        <p14:creationId xmlns:p14="http://schemas.microsoft.com/office/powerpoint/2010/main" val="14507934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D35865-C6C1-F985-129D-7F789691C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D43D5619-ECC9-341A-8B16-0C20DB866EC3}"/>
              </a:ext>
            </a:extLst>
          </p:cNvPr>
          <p:cNvSpPr txBox="1"/>
          <p:nvPr/>
        </p:nvSpPr>
        <p:spPr>
          <a:xfrm>
            <a:off x="421342" y="277906"/>
            <a:ext cx="10217284" cy="25237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MutRepair</a:t>
            </a:r>
            <a:r>
              <a:rPr lang="en-US" altLang="zh-C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without Metamorphic Relations:</a:t>
            </a:r>
          </a:p>
          <a:p>
            <a:endParaRPr lang="en-US" altLang="zh-C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Step 1. Mutation generation without MR</a:t>
            </a:r>
          </a:p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step works just like </a:t>
            </a:r>
            <a:r>
              <a:rPr lang="en-US" altLang="zh-C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SelfCheckGPT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the mutations are generated through multi-runs with same question.</a:t>
            </a:r>
          </a:p>
          <a:p>
            <a:endParaRPr lang="en-US" altLang="zh-C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Step 2: LLM self-check with fault-assumption-injected prompt</a:t>
            </a:r>
          </a:p>
          <a:p>
            <a:r>
              <a:rPr lang="en-US" altLang="zh-C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Step 3: Pairwise ranking by LLM</a:t>
            </a:r>
          </a:p>
          <a:p>
            <a:r>
              <a:rPr lang="en-US" altLang="zh-C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Step 4: Final output</a:t>
            </a:r>
          </a:p>
        </p:txBody>
      </p:sp>
    </p:spTree>
    <p:extLst>
      <p:ext uri="{BB962C8B-B14F-4D97-AF65-F5344CB8AC3E}">
        <p14:creationId xmlns:p14="http://schemas.microsoft.com/office/powerpoint/2010/main" val="31499694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1106</TotalTime>
  <Words>369</Words>
  <Application>Microsoft Office PowerPoint</Application>
  <PresentationFormat>宽屏</PresentationFormat>
  <Paragraphs>43</Paragraphs>
  <Slides>8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4" baseType="lpstr">
      <vt:lpstr>等线</vt:lpstr>
      <vt:lpstr>等线 Light</vt:lpstr>
      <vt:lpstr>Arial</vt:lpstr>
      <vt:lpstr>Calibri</vt:lpstr>
      <vt:lpstr>Office 主题​​</vt:lpstr>
      <vt:lpstr>Microsoft Excel 工作表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Borui Yang</dc:creator>
  <cp:lastModifiedBy>Borui Yang</cp:lastModifiedBy>
  <cp:revision>2</cp:revision>
  <dcterms:created xsi:type="dcterms:W3CDTF">2026-06-22T18:42:51Z</dcterms:created>
  <dcterms:modified xsi:type="dcterms:W3CDTF">2026-06-23T13:08:55Z</dcterms:modified>
</cp:coreProperties>
</file>