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5" r:id="rId4"/>
    <p:sldId id="266" r:id="rId5"/>
    <p:sldId id="257" r:id="rId6"/>
    <p:sldId id="264" r:id="rId7"/>
    <p:sldId id="263" r:id="rId8"/>
    <p:sldId id="259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600F7-6B72-F3AD-8C69-526059608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3BAB1-59F8-9FBB-5DBB-E06924AAD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32ABE4-245E-CE41-36E8-3801435D2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EB191-3F46-E5A2-0D10-F0BF6B711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CF3216-1358-2913-E5EE-C9DCAC8C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47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E33FB9-2A7E-F0A5-D17B-4767E0B9A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75ADB3-0F06-48FA-69F7-57F5CA10B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798C3-FB6F-BDAD-6B4A-6C445B0C3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160D96-E3C1-4D61-8800-ABF0CE955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3D0D-46A8-A743-8ABF-9BA7071C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3795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67920A-EA26-D382-E24A-1B386416E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39D1C0-C37D-12FA-0D25-68F67E78C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E6CAB-49CB-5404-4835-0BC3E7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728C89-C45D-6855-ABF5-D2EF75218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A6FDB-FA25-8F71-9CE4-83636F5E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745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C62E18-4453-6DEB-B40C-CD2D81B1F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4A4DF9-7C85-1FAF-9816-16C3CDB19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2A9494-DD73-02A3-C7B6-8F05616CB8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C9527A-1605-7653-7CCF-39580F682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44C8DD-331C-D9D9-7872-6CC4E16C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42A237-BB62-8608-F758-8A0972301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8819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60D5A-9D5C-9689-9B10-FA83B1A5E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6C1F5-03D6-81B7-9E30-61E5BFE8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E37C45-C805-6CCE-9ADB-BF729371E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031409-7F3E-E7F4-C69E-4878CDFC3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5681B89-2122-46B4-2828-B0890167E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F417C3-70AD-8C62-0982-0DB7C4C5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2CD5712-D9D7-272C-A163-2C8B24A0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47DD4F1-EB8F-0049-802E-3128C423C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23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9D364-9601-498C-AE16-B34101DD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BDF79B-135B-AE56-F976-2A347F17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F11EAF4-0AC2-F56F-5E8D-F18780A2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E23DFF-D36E-FF74-4722-404513F8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30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21D5A7-2019-837F-93F5-F1D460B28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424F25-0C5E-A414-EE9D-9CD094C1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E107D-4061-D7AF-8884-AD0A47CA3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814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999EF-2E5C-8998-F8EC-0725BB8A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F73133-2475-FF08-8755-FA192072C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87FBF-0D6C-BB59-88E9-4061540F6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2A87AA-1679-93CD-9FEB-316FF7EB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E53B45-B69B-A63F-13A1-586B7533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6B9376-6C5C-E8A0-56D0-A5CBF207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08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0993B-8905-4A28-E46A-8392036BE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02B05-507D-4ADD-D4A4-36CE54E034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637A76-7414-15E2-37B7-A2D11F2A0C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C6F4D3-B8DE-4AD9-8318-50182AAD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569634-3E1A-45F1-2538-35FC362A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68CFD4-3935-59FF-04AB-743EEADA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74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91672C-9584-ADBA-58FC-C4DAE6A87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3D049C-FDC8-CAAC-84DA-E8AF124411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CCEA9C-9A04-C93C-A42B-92872A7B4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5E360-0E79-04F8-5099-99204F41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FD7B21-B1F1-6A66-019C-9D3023A9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84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C4D5A-FC74-BB97-C4FC-3887DF2216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909980-3F0E-2F7A-8C68-DBFB21EB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EBD08A-8EDD-30AA-FCC7-DEE515A8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795A92-400D-8695-C73F-68A9C7923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4CE691-FE35-D142-C033-41172C71E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197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B301488-E2FD-10DA-438D-7C227ACBC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784-9528-05B1-E5AD-0F42D8682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39E040-89AD-F21A-8E68-F6951EFDBF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567BA6-CBC2-4FF0-810E-3ED1BF2C4381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10621E-343D-5ED1-73EE-C36E2F0D1B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4A2FD49-3D39-0E28-39AE-E1D4302F1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4168C-7CD7-4A79-AD18-9DAEF273963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249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309.11495" TargetMode="External"/><Relationship Id="rId2" Type="http://schemas.openxmlformats.org/officeDocument/2006/relationships/hyperlink" Target="https://arxiv.org/pdf/2201.1190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B0C4B1-B12B-1259-2708-F66B372AB7C3}"/>
              </a:ext>
            </a:extLst>
          </p:cNvPr>
          <p:cNvSpPr txBox="1"/>
          <p:nvPr/>
        </p:nvSpPr>
        <p:spPr>
          <a:xfrm>
            <a:off x="479719" y="151179"/>
            <a:ext cx="1121922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Idea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Inject the assumption of possible faults (hallucinations or factual errors) in a follow‑up prompt to trigger a self‑fact‑checking cycle.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Workflow: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Question to LLM -&gt; base response -&gt; generate mutations -&gt; prompt LLM with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-&gt; final answer</a:t>
            </a:r>
          </a:p>
        </p:txBody>
      </p:sp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70D5F52-36D5-4846-ACD1-5FF887A94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066" y="3066974"/>
            <a:ext cx="5724525" cy="220027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F340774-0650-C171-2E71-F98F9F11AEB8}"/>
              </a:ext>
            </a:extLst>
          </p:cNvPr>
          <p:cNvSpPr txBox="1"/>
          <p:nvPr/>
        </p:nvSpPr>
        <p:spPr>
          <a:xfrm>
            <a:off x="479718" y="5566944"/>
            <a:ext cx="112192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Prompt example:</a:t>
            </a:r>
          </a:p>
          <a:p>
            <a:r>
              <a:rPr lang="en-US" altLang="zh-CN" dirty="0">
                <a:latin typeface="+mn-ea"/>
                <a:cs typeface="Arial" panose="020B0604020202020204" pitchFamily="34" charset="0"/>
              </a:rPr>
              <a:t>RECHECK_PROMPT = """The **original response** </a:t>
            </a:r>
            <a:r>
              <a:rPr lang="en-US" altLang="zh-CN" b="1" dirty="0">
                <a:solidFill>
                  <a:srgbClr val="FF0000"/>
                </a:solidFill>
                <a:latin typeface="+mn-ea"/>
                <a:cs typeface="Arial" panose="020B0604020202020204" pitchFamily="34" charset="0"/>
              </a:rPr>
              <a:t>may </a:t>
            </a:r>
            <a:r>
              <a:rPr lang="en-US" altLang="zh-CN" dirty="0">
                <a:latin typeface="+mn-ea"/>
                <a:cs typeface="Arial" panose="020B0604020202020204" pitchFamily="34" charset="0"/>
              </a:rPr>
              <a:t>contains hallucinations or factual errors in answering the given question. Your task is to fact-check it and provide a corrected one-sentence answer."""</a:t>
            </a:r>
          </a:p>
        </p:txBody>
      </p:sp>
    </p:spTree>
    <p:extLst>
      <p:ext uri="{BB962C8B-B14F-4D97-AF65-F5344CB8AC3E}">
        <p14:creationId xmlns:p14="http://schemas.microsoft.com/office/powerpoint/2010/main" val="2045353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2CF2-3B27-A241-3FBF-A866299B1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C5DEC9B-2475-63EE-2956-66364BD805A7}"/>
              </a:ext>
            </a:extLst>
          </p:cNvPr>
          <p:cNvSpPr txBox="1"/>
          <p:nvPr/>
        </p:nvSpPr>
        <p:spPr>
          <a:xfrm>
            <a:off x="479719" y="151179"/>
            <a:ext cx="112192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CoT’s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https://arxiv.org/pdf/2201.11903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Use LLM’s deep-thinking mode and prompt LLM generate a more accurate answer.</a:t>
            </a:r>
          </a:p>
          <a:p>
            <a:r>
              <a:rPr lang="en-US" altLang="zh-CN" dirty="0"/>
              <a:t>COT_PROMPT = """You are given a question and original response.</a:t>
            </a:r>
            <a:br>
              <a:rPr lang="en-US" altLang="zh-CN" dirty="0"/>
            </a:br>
            <a:r>
              <a:rPr lang="en-US" altLang="zh-CN" dirty="0"/>
              <a:t>Let's think step by step and provide the most accurate final answer. """</a:t>
            </a:r>
            <a:br>
              <a:rPr lang="en-US" altLang="zh-CN" dirty="0"/>
            </a:b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Baseline </a:t>
            </a:r>
            <a:r>
              <a:rPr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CoVe’s</a:t>
            </a:r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 idea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https://arxiv.org/pdf/2309.11495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Generates a set of targeted verification questions that help fact‑check different parts of its original reasoning.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Next, the LLM independently answers these verification questions, often using retrieval, and uses the verified facts to revise the original answer.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5386AB0F-D9EC-A301-6DDD-43BA8C702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067" y="3629054"/>
            <a:ext cx="5724525" cy="277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8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898100F-D511-C3F5-4EF0-57F49F02315C}"/>
              </a:ext>
            </a:extLst>
          </p:cNvPr>
          <p:cNvSpPr txBox="1"/>
          <p:nvPr/>
        </p:nvSpPr>
        <p:spPr>
          <a:xfrm>
            <a:off x="479719" y="151179"/>
            <a:ext cx="1121922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Verbalized Sampling: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You are a helpful assistant. For each query, please generate a set of five possible responses, each within a separate &lt;response&gt; tag. Responses should each include a &lt;text&gt; and a numeric &lt;probability&gt;. Please sample at random from the [full distribution / tails of the distribution, such that the probability of each response is less than 0.10].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…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&lt;response&gt;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&lt;text&gt;context&lt;/text&gt;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&lt;probability&gt;X&lt;/probability&gt;	X=The probability that the LLM will output this context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2049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D03348E-BD1F-CC99-2F45-C1012472DEE4}"/>
              </a:ext>
            </a:extLst>
          </p:cNvPr>
          <p:cNvSpPr txBox="1"/>
          <p:nvPr/>
        </p:nvSpPr>
        <p:spPr>
          <a:xfrm>
            <a:off x="479719" y="151179"/>
            <a:ext cx="11219222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Enhanced Verbalized Sampling: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…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Responses should each include: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-a numeric &lt;confidence&gt; field representing the model's confidence score for the factual correctness of the answer (range 0.00–1.00, two decimal places).</a:t>
            </a: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prompt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 …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&lt;response&gt;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&lt;text&gt;context&lt;/text&gt;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&lt;probability&gt;X&lt;/probability&gt;	X=The probability that the LLM will output this context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&lt;confidence&gt;Y&lt;/confidence&gt;	Y=The model's confidence score for the factual correctness of the context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64271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24BB9-73A1-D41C-F92F-3EA3D4F15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F8B3972-7AD1-1633-2C19-92F39550E868}"/>
              </a:ext>
            </a:extLst>
          </p:cNvPr>
          <p:cNvSpPr txBox="1"/>
          <p:nvPr/>
        </p:nvSpPr>
        <p:spPr>
          <a:xfrm>
            <a:off x="479719" y="151179"/>
            <a:ext cx="1121922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Comparison experiment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dataset: 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150 samples: 100 from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TruthfulQA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with 49 hallucination samples. 50 from 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HotpotQA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, with 25 hallucination samples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Baseline: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CoT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(chain-of-thought, Google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Reseach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CoVe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(chain-of-verification,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MetaAI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Experiment result parameters: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rate after repair: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provided by approaches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hallucination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unsuccessful repair: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overcorrection: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hallucination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zh-CN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final_answer</a:t>
            </a:r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hallucination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pass@6: at least 1 is correct in the checking results of (mutations + </a:t>
            </a:r>
            <a:r>
              <a:rPr lang="en-US" altLang="zh-CN" sz="2000" dirty="0" err="1">
                <a:latin typeface="Arial" panose="020B0604020202020204" pitchFamily="34" charset="0"/>
                <a:cs typeface="Arial" panose="020B0604020202020204" pitchFamily="34" charset="0"/>
              </a:rPr>
              <a:t>base_response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token cost pre question</a:t>
            </a:r>
          </a:p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avg time cost pre question</a:t>
            </a:r>
          </a:p>
          <a:p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Number of mutations: 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5(synonym)</a:t>
            </a:r>
          </a:p>
        </p:txBody>
      </p:sp>
    </p:spTree>
    <p:extLst>
      <p:ext uri="{BB962C8B-B14F-4D97-AF65-F5344CB8AC3E}">
        <p14:creationId xmlns:p14="http://schemas.microsoft.com/office/powerpoint/2010/main" val="947931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B924336-BE1D-805E-6FF2-A38E6E583AAE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图表, 条形图&#10;&#10;AI 生成的内容可能不正确。">
            <a:extLst>
              <a:ext uri="{FF2B5EF4-FFF2-40B4-BE49-F238E27FC236}">
                <a16:creationId xmlns:a16="http://schemas.microsoft.com/office/drawing/2014/main" id="{C65C1D66-193D-79BA-CF43-0D5364B3D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131" y="735954"/>
            <a:ext cx="4785360" cy="5189220"/>
          </a:xfrm>
          <a:prstGeom prst="rect">
            <a:avLst/>
          </a:prstGeom>
        </p:spPr>
      </p:pic>
      <p:pic>
        <p:nvPicPr>
          <p:cNvPr id="5" name="图片 4" descr="图表, 条形图&#10;&#10;AI 生成的内容可能不正确。">
            <a:extLst>
              <a:ext uri="{FF2B5EF4-FFF2-40B4-BE49-F238E27FC236}">
                <a16:creationId xmlns:a16="http://schemas.microsoft.com/office/drawing/2014/main" id="{C764A6F0-E9E5-80EB-4513-C09E81835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509" y="735954"/>
            <a:ext cx="478536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8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5B9A-31CF-8F79-EE06-A27A4F0A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CC2F5A7-2FAD-0E56-694F-3D8F18AB44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5531032"/>
              </p:ext>
            </p:extLst>
          </p:nvPr>
        </p:nvGraphicFramePr>
        <p:xfrm>
          <a:off x="5473609" y="735954"/>
          <a:ext cx="6238673" cy="1283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1239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1620127239"/>
                    </a:ext>
                  </a:extLst>
                </a:gridCol>
                <a:gridCol w="891239">
                  <a:extLst>
                    <a:ext uri="{9D8B030D-6E8A-4147-A177-3AD203B41FA5}">
                      <a16:colId xmlns:a16="http://schemas.microsoft.com/office/drawing/2014/main" val="2425524162"/>
                    </a:ext>
                  </a:extLst>
                </a:gridCol>
              </a:tblGrid>
              <a:tr h="673835">
                <a:tc>
                  <a:txBody>
                    <a:bodyPr/>
                    <a:lstStyle/>
                    <a:p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Token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CoT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(CoVe)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our approach - vs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101.73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2633.25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4222.12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197.15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1763.87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596.13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8076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87.03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6824.61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188.51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1775.89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580.05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469CD08E-F3B2-84D2-93AA-148551C0E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66000"/>
              </p:ext>
            </p:extLst>
          </p:nvPr>
        </p:nvGraphicFramePr>
        <p:xfrm>
          <a:off x="5473609" y="2019389"/>
          <a:ext cx="6225331" cy="1276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9333">
                  <a:extLst>
                    <a:ext uri="{9D8B030D-6E8A-4147-A177-3AD203B41FA5}">
                      <a16:colId xmlns:a16="http://schemas.microsoft.com/office/drawing/2014/main" val="4101249701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64436008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2870068380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2903000029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3141391406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4228366896"/>
                    </a:ext>
                  </a:extLst>
                </a:gridCol>
                <a:gridCol w="889333">
                  <a:extLst>
                    <a:ext uri="{9D8B030D-6E8A-4147-A177-3AD203B41FA5}">
                      <a16:colId xmlns:a16="http://schemas.microsoft.com/office/drawing/2014/main" val="3963888700"/>
                    </a:ext>
                  </a:extLst>
                </a:gridCol>
              </a:tblGrid>
              <a:tr h="66664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Average Time Cost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Chain-of-Thought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CoT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Chain-of-Verification (</a:t>
                      </a: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CoVe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- Search Engine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our approach</a:t>
                      </a:r>
                      <a:r>
                        <a:rPr lang="zh-CN" altLang="en-US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mutations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our approach - vs</a:t>
                      </a:r>
                      <a:endParaRPr lang="zh-CN" altLang="en-US" sz="12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6647714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gpt-4o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30.0015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42.0007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1.8135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11.2498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4.4483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1162633"/>
                  </a:ext>
                </a:extLst>
              </a:tr>
              <a:tr h="27776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gpt-5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12.4434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202.180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21.4348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187.810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36.9961</a:t>
                      </a:r>
                      <a:endParaRPr lang="zh-CN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85772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C0CCBC1A-83EC-228E-417D-8BB79203B20F}"/>
              </a:ext>
            </a:extLst>
          </p:cNvPr>
          <p:cNvSpPr txBox="1"/>
          <p:nvPr/>
        </p:nvSpPr>
        <p:spPr>
          <a:xfrm>
            <a:off x="479719" y="151179"/>
            <a:ext cx="1121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Experiment evaluation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图表, 条形图&#10;&#10;AI 生成的内容可能不正确。">
            <a:extLst>
              <a:ext uri="{FF2B5EF4-FFF2-40B4-BE49-F238E27FC236}">
                <a16:creationId xmlns:a16="http://schemas.microsoft.com/office/drawing/2014/main" id="{E1692DA4-7ADD-A73D-4BEC-CFC7EA946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9" y="735954"/>
            <a:ext cx="471678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06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B274B-72A9-FC13-E7BE-D663AC6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BDEBA0-48D9-0570-3AD8-8CC23F54EAC7}"/>
              </a:ext>
            </a:extLst>
          </p:cNvPr>
          <p:cNvSpPr txBox="1"/>
          <p:nvPr/>
        </p:nvSpPr>
        <p:spPr>
          <a:xfrm>
            <a:off x="479719" y="151179"/>
            <a:ext cx="112192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TODO list</a:t>
            </a:r>
          </a:p>
          <a:p>
            <a:endParaRPr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39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3895</TotalTime>
  <Words>627</Words>
  <Application>Microsoft Office PowerPoint</Application>
  <PresentationFormat>宽屏</PresentationFormat>
  <Paragraphs>96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Borui Yang</dc:creator>
  <cp:lastModifiedBy>zbybr-PC</cp:lastModifiedBy>
  <cp:revision>23</cp:revision>
  <dcterms:created xsi:type="dcterms:W3CDTF">2025-10-23T01:47:16Z</dcterms:created>
  <dcterms:modified xsi:type="dcterms:W3CDTF">2025-12-11T10:41:43Z</dcterms:modified>
</cp:coreProperties>
</file>