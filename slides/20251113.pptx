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7" r:id="rId4"/>
    <p:sldId id="265" r:id="rId5"/>
    <p:sldId id="264" r:id="rId6"/>
    <p:sldId id="263" r:id="rId7"/>
    <p:sldId id="259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600F7-6B72-F3AD-8C69-52605960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493BAB1-59F8-9FBB-5DBB-E06924AAD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32ABE4-245E-CE41-36E8-3801435D2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DEB191-3F46-E5A2-0D10-F0BF6B71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CF3216-1358-2913-E5EE-C9DCAC8C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71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33FB9-2A7E-F0A5-D17B-4767E0B9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75ADB3-0F06-48FA-69F7-57F5CA10B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798C3-FB6F-BDAD-6B4A-6C445B0C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160D96-E3C1-4D61-8800-ABF0CE955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5D3D0D-46A8-A743-8ABF-9BA7071C3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79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67920A-EA26-D382-E24A-1B386416E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39D1C0-C37D-12FA-0D25-68F67E78C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EE6CAB-49CB-5404-4835-0BC3E71D6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728C89-C45D-6855-ABF5-D2EF75218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DA6FDB-FA25-8F71-9CE4-83636F5EF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74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C62E18-4453-6DEB-B40C-CD2D81B1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4A4DF9-7C85-1FAF-9816-16C3CDB19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2A9494-DD73-02A3-C7B6-8F05616CB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C9527A-1605-7653-7CCF-39580F682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4C8DD-331C-D9D9-7872-6CC4E16C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42A237-BB62-8608-F758-8A0972301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81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360D5A-9D5C-9689-9B10-FA83B1A5E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6C1F5-03D6-81B7-9E30-61E5BFE8D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9E37C45-C805-6CCE-9ADB-BF729371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031409-7F3E-E7F4-C69E-4878CDFC31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81B89-2122-46B4-2828-B0890167E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F417C3-70AD-8C62-0982-0DB7C4C5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2CD5712-D9D7-272C-A163-2C8B24A0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7DD4F1-EB8F-0049-802E-3128C423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5123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9D364-9601-498C-AE16-B34101DD0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0BDF79B-135B-AE56-F976-2A347F17F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F11EAF4-0AC2-F56F-5E8D-F18780A22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2E23DFF-D36E-FF74-4722-404513F8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30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F21D5A7-2019-837F-93F5-F1D460B28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24F25-0C5E-A414-EE9D-9CD094C1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EE107D-4061-D7AF-8884-AD0A47CA3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14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B999EF-2E5C-8998-F8EC-0725BB8A5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F73133-2475-FF08-8755-FA192072C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C87FBF-0D6C-BB59-88E9-4061540F6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2A87AA-1679-93CD-9FEB-316FF7EB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E53B45-B69B-A63F-13A1-586B75336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6B9376-6C5C-E8A0-56D0-A5CBF2079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08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0993B-8905-4A28-E46A-8392036B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FC02B05-507D-4ADD-D4A4-36CE54E03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637A76-7414-15E2-37B7-A2D11F2A0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C6F4D3-B8DE-4AD9-8318-50182AADE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69634-3E1A-45F1-2538-35FC362A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68CFD4-3935-59FF-04AB-743EEADA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974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91672C-9584-ADBA-58FC-C4DAE6A8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B3D049C-FDC8-CAAC-84DA-E8AF124411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CCEA9C-9A04-C93C-A42B-92872A7B4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5E360-0E79-04F8-5099-99204F41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FD7B21-B1F1-6A66-019C-9D3023A9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84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1AC4D5A-FC74-BB97-C4FC-3887DF2216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09980-3F0E-2F7A-8C68-DBFB21EB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EBD08A-8EDD-30AA-FCC7-DEE515A8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795A92-400D-8695-C73F-68A9C792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4CE691-FE35-D142-C033-41172C71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97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B301488-E2FD-10DA-438D-7C227ACB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E4A784-9528-05B1-E5AD-0F42D8682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39E040-89AD-F21A-8E68-F6951EFDBF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7BA6-CBC2-4FF0-810E-3ED1BF2C4381}" type="datetimeFigureOut">
              <a:rPr lang="zh-CN" altLang="en-US" smtClean="0"/>
              <a:t>2025/11/25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0621E-343D-5ED1-73EE-C36E2F0D1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A2FD49-3D39-0E28-39AE-E1D4302F13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92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arxiv.org/pdf/2309.11495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8B0C4B1-B12B-1259-2708-F66B372AB7C3}"/>
              </a:ext>
            </a:extLst>
          </p:cNvPr>
          <p:cNvSpPr txBox="1"/>
          <p:nvPr/>
        </p:nvSpPr>
        <p:spPr>
          <a:xfrm>
            <a:off x="479719" y="151179"/>
            <a:ext cx="1121922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Idea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Inject the assumption of possible faults (hallucinations or factual errors) in a follow‑up prompt to trigger a self‑fact‑checking cycle.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The LLM re‑examines the original answer under this “fault injection” premise and produces a concise corrected final answer.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Workflow: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Question to LLM -&gt; base response -&gt; generate mutations -&gt; prompt LLM with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fault injection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-&gt; final answer</a:t>
            </a:r>
          </a:p>
        </p:txBody>
      </p:sp>
      <p:pic>
        <p:nvPicPr>
          <p:cNvPr id="3" name="图片 2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370D5F52-36D5-4846-ACD1-5FF887A94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7067" y="3366669"/>
            <a:ext cx="5724525" cy="220027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DF340774-0650-C171-2E71-F98F9F11AEB8}"/>
              </a:ext>
            </a:extLst>
          </p:cNvPr>
          <p:cNvSpPr txBox="1"/>
          <p:nvPr/>
        </p:nvSpPr>
        <p:spPr>
          <a:xfrm>
            <a:off x="479718" y="5566944"/>
            <a:ext cx="112192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Prompt example:</a:t>
            </a:r>
          </a:p>
          <a:p>
            <a:r>
              <a:rPr lang="en-US" altLang="zh-CN" dirty="0">
                <a:latin typeface="+mn-ea"/>
                <a:cs typeface="Arial" panose="020B0604020202020204" pitchFamily="34" charset="0"/>
              </a:rPr>
              <a:t>RECHECK_PROMPT = """The **original response** contains hallucinations or factual errors in answering the given question. Your task is to fact-check it and provide a corrected one-sentence answer."""</a:t>
            </a:r>
          </a:p>
        </p:txBody>
      </p:sp>
    </p:spTree>
    <p:extLst>
      <p:ext uri="{BB962C8B-B14F-4D97-AF65-F5344CB8AC3E}">
        <p14:creationId xmlns:p14="http://schemas.microsoft.com/office/powerpoint/2010/main" val="204535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02CF2-3B27-A241-3FBF-A866299B1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C5DEC9B-2475-63EE-2956-66364BD805A7}"/>
              </a:ext>
            </a:extLst>
          </p:cNvPr>
          <p:cNvSpPr txBox="1"/>
          <p:nvPr/>
        </p:nvSpPr>
        <p:spPr>
          <a:xfrm>
            <a:off x="479719" y="151179"/>
            <a:ext cx="1121922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CoT’s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Use LLM’s deep-thinking mode and prompt LLM generate a more accurate answer.</a:t>
            </a:r>
          </a:p>
          <a:p>
            <a:r>
              <a:rPr lang="en-US" altLang="zh-CN" dirty="0"/>
              <a:t>COT_PROMPT = """You are given a question and original response.</a:t>
            </a:r>
            <a:br>
              <a:rPr lang="en-US" altLang="zh-CN" dirty="0"/>
            </a:br>
            <a:r>
              <a:rPr lang="en-US" altLang="zh-CN" dirty="0"/>
              <a:t>Let's think step by step and provide the most accurate final answer. """</a:t>
            </a:r>
            <a:br>
              <a:rPr lang="en-US" altLang="zh-CN" dirty="0"/>
            </a:b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CoVe’s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https://arxiv.org/pdf/2309.11495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Generates a set of targeted verification questions that help fact‑check different parts of its original reasoning.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Next, the LLM independently answers these verification questions, often using retrieval, and uses the verified facts to revise the original answer.</a:t>
            </a:r>
          </a:p>
        </p:txBody>
      </p:sp>
      <p:pic>
        <p:nvPicPr>
          <p:cNvPr id="3" name="图片 2" descr="图示&#10;&#10;AI 生成的内容可能不正确。">
            <a:extLst>
              <a:ext uri="{FF2B5EF4-FFF2-40B4-BE49-F238E27FC236}">
                <a16:creationId xmlns:a16="http://schemas.microsoft.com/office/drawing/2014/main" id="{563B55FC-64E1-8BC1-67F1-26355938CA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7067" y="3629054"/>
            <a:ext cx="5724525" cy="27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280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4BB9-73A1-D41C-F92F-3EA3D4F1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F8B3972-7AD1-1633-2C19-92F39550E868}"/>
              </a:ext>
            </a:extLst>
          </p:cNvPr>
          <p:cNvSpPr txBox="1"/>
          <p:nvPr/>
        </p:nvSpPr>
        <p:spPr>
          <a:xfrm>
            <a:off x="479719" y="151179"/>
            <a:ext cx="11219222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Comparison experiment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dataset: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224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(85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TruthfulQA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63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TriviaQA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76 from HotpotQA)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Randomly select about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50%(113)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samples to generate hallucination base response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Baseline: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(chain-of-thought),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(chain-of-verification,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MetaAI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 parameters: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provided by approaches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unsuccessful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overcorrection: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Number of mutations: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5(synonym)</a:t>
            </a:r>
          </a:p>
        </p:txBody>
      </p:sp>
    </p:spTree>
    <p:extLst>
      <p:ext uri="{BB962C8B-B14F-4D97-AF65-F5344CB8AC3E}">
        <p14:creationId xmlns:p14="http://schemas.microsoft.com/office/powerpoint/2010/main" val="947931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C2320FE-5B00-0DB9-62CC-8B2E8CA9A69C}"/>
              </a:ext>
            </a:extLst>
          </p:cNvPr>
          <p:cNvSpPr txBox="1"/>
          <p:nvPr/>
        </p:nvSpPr>
        <p:spPr>
          <a:xfrm>
            <a:off x="479719" y="151179"/>
            <a:ext cx="11219222" cy="6309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Samples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Q: question, B: base response, F: final answer C: Correct answer</a:t>
            </a:r>
          </a:p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hallucination successful repair: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Q: Americans are taller on average than which other places?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B: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Americans are taller on average than the Dutch.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F: </a:t>
            </a: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 average, Americans are taller than populations in many Asian and Latin American countries, such as China, India, Japan, Mexico, Peru, Indonesia, and the Philippines.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hallucination unsuccessful repair: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Q: What was the founding year of the county where Weber's Store is located?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B: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county where Weber's Store is located was founded in 1899.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F: </a:t>
            </a:r>
            <a:r>
              <a:rPr lang="en-US" altLang="zh-CN" sz="2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founding year of the county where Weber's Store is located was not 1899.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C: </a:t>
            </a: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county where Weber's Store is located was founded in 1905.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overcorrection: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Q: In which country do people eat more beef (burgers and steaks) than anywhere else?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B: </a:t>
            </a: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Argentina, people eat more beef than anywhere else.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Uruguay has the highest per-capita beef consumption.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C: </a:t>
            </a: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Argentina, people eat more beef than anywhere else.</a:t>
            </a:r>
          </a:p>
        </p:txBody>
      </p:sp>
    </p:spTree>
    <p:extLst>
      <p:ext uri="{BB962C8B-B14F-4D97-AF65-F5344CB8AC3E}">
        <p14:creationId xmlns:p14="http://schemas.microsoft.com/office/powerpoint/2010/main" val="2624921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80B8AE8-EF79-1E3C-89A4-99C9231F55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4132" y="735954"/>
            <a:ext cx="4785360" cy="518922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8517C15-01C5-441A-2A8F-8696835CB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508" y="735954"/>
            <a:ext cx="4785360" cy="518922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0B924336-BE1D-805E-6FF2-A38E6E583AAE}"/>
              </a:ext>
            </a:extLst>
          </p:cNvPr>
          <p:cNvSpPr txBox="1"/>
          <p:nvPr/>
        </p:nvSpPr>
        <p:spPr>
          <a:xfrm>
            <a:off x="479719" y="151179"/>
            <a:ext cx="11219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Experiment evaluation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8528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5B9A-31CF-8F79-EE06-A27A4F0A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CC2F5A7-2FAD-0E56-694F-3D8F18AB44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987470"/>
              </p:ext>
            </p:extLst>
          </p:nvPr>
        </p:nvGraphicFramePr>
        <p:xfrm>
          <a:off x="6096000" y="735954"/>
          <a:ext cx="5948220" cy="1283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1370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1620127239"/>
                    </a:ext>
                  </a:extLst>
                </a:gridCol>
              </a:tblGrid>
              <a:tr h="673835">
                <a:tc>
                  <a:txBody>
                    <a:bodyPr/>
                    <a:lstStyle/>
                    <a:p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Token Cost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Chain-of-Thought (CoT)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Chain-of-Verification (CoVe)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 - Search Engine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r>
                        <a:rPr lang="zh-CN" altLang="en-US" sz="12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 mutations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80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97.97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2073.16</a:t>
                      </a:r>
                      <a:endParaRPr lang="zh-CN" altLang="en-US" sz="14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2892.71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289.43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1569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80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84.96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5619.32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5060.35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305.13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1271.36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469CD08E-F3B2-84D2-93AA-148551C0E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5591841"/>
              </p:ext>
            </p:extLst>
          </p:nvPr>
        </p:nvGraphicFramePr>
        <p:xfrm>
          <a:off x="6096000" y="2019389"/>
          <a:ext cx="5948220" cy="12762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1370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4228366896"/>
                    </a:ext>
                  </a:extLst>
                </a:gridCol>
              </a:tblGrid>
              <a:tr h="6666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Time Cost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Chain-of-Thought (</a:t>
                      </a: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CoT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Chain-of-Verification (</a:t>
                      </a: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- Search Engine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r>
                        <a:rPr lang="zh-CN" alt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 mutations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7776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34.5704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17.09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7776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13.46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155.00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78.0071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240.96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C0CCBC1A-83EC-228E-417D-8BB79203B20F}"/>
              </a:ext>
            </a:extLst>
          </p:cNvPr>
          <p:cNvSpPr txBox="1"/>
          <p:nvPr/>
        </p:nvSpPr>
        <p:spPr>
          <a:xfrm>
            <a:off x="479719" y="151179"/>
            <a:ext cx="11219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Experiment evaluation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44F4E3A2-D412-973B-DC64-4A6FAF8F3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80" y="735954"/>
            <a:ext cx="4785360" cy="518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06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B274B-72A9-FC13-E7BE-D663AC68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EBDEBA0-48D9-0570-3AD8-8CC23F54EAC7}"/>
              </a:ext>
            </a:extLst>
          </p:cNvPr>
          <p:cNvSpPr txBox="1"/>
          <p:nvPr/>
        </p:nvSpPr>
        <p:spPr>
          <a:xfrm>
            <a:off x="479719" y="151179"/>
            <a:ext cx="1121922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1. Our approach outperformed other approaches on gpt-4o and gpt-5, when using mutations, we could even perform better.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2. Consider the usage of tokens and time, our approach spent less time and tokens than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TODO list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1. Any other experiment parameters could be involved in?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2. Find SOTA method using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+ RAG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3. Discuss whether our approach should use RAG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4. Extend experiments on LlaMa3(open-sourced) and Gemini/Claude (closed-sourced)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5. Build experiments on the influence of LLM temperature in baseline (FSE25 rebuttal)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6. Build dataset of final large-scale experiments</a:t>
            </a:r>
          </a:p>
        </p:txBody>
      </p:sp>
    </p:spTree>
    <p:extLst>
      <p:ext uri="{BB962C8B-B14F-4D97-AF65-F5344CB8AC3E}">
        <p14:creationId xmlns:p14="http://schemas.microsoft.com/office/powerpoint/2010/main" val="360439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3513</TotalTime>
  <Words>722</Words>
  <Application>Microsoft Office PowerPoint</Application>
  <PresentationFormat>宽屏</PresentationFormat>
  <Paragraphs>96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Borui Yang</dc:creator>
  <cp:lastModifiedBy>zbybr-PC</cp:lastModifiedBy>
  <cp:revision>18</cp:revision>
  <dcterms:created xsi:type="dcterms:W3CDTF">2025-10-23T01:47:16Z</dcterms:created>
  <dcterms:modified xsi:type="dcterms:W3CDTF">2025-11-25T08:49:15Z</dcterms:modified>
</cp:coreProperties>
</file>