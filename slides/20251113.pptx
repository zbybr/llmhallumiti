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  <p:sldId id="257" r:id="rId4"/>
    <p:sldId id="263" r:id="rId5"/>
    <p:sldId id="258" r:id="rId6"/>
    <p:sldId id="262" r:id="rId7"/>
    <p:sldId id="259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C600F7-6B72-F3AD-8C69-5260596089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493BAB1-59F8-9FBB-5DBB-E06924AADB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32ABE4-245E-CE41-36E8-3801435D2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DEB191-3F46-E5A2-0D10-F0BF6B711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CF3216-1358-2913-E5EE-C9DCAC8C1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64712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E33FB9-2A7E-F0A5-D17B-4767E0B9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75ADB3-0F06-48FA-69F7-57F5CA10B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B798C3-FB6F-BDAD-6B4A-6C445B0C3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2160D96-E3C1-4D61-8800-ABF0CE955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5D3D0D-46A8-A743-8ABF-9BA7071C3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3795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67920A-EA26-D382-E24A-1B386416E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F39D1C0-C37D-12FA-0D25-68F67E78C5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7EE6CAB-49CB-5404-4835-0BC3E71D6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728C89-C45D-6855-ABF5-D2EF75218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FDA6FDB-FA25-8F71-9CE4-83636F5EF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2745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C62E18-4453-6DEB-B40C-CD2D81B1F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24A4DF9-7C85-1FAF-9816-16C3CDB198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52A9494-DD73-02A3-C7B6-8F05616CB8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0C9527A-1605-7653-7CCF-39580F682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4C8DD-331C-D9D9-7872-6CC4E16C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42A237-BB62-8608-F758-8A0972301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8819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360D5A-9D5C-9689-9B10-FA83B1A5E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726C1F5-03D6-81B7-9E30-61E5BFE8D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9E37C45-C805-6CCE-9ADB-BF729371E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5031409-7F3E-E7F4-C69E-4878CDFC31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681B89-2122-46B4-2828-B0890167E3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6F417C3-70AD-8C62-0982-0DB7C4C5A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2CD5712-D9D7-272C-A163-2C8B24A0F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47DD4F1-EB8F-0049-802E-3128C423C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51239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49D364-9601-498C-AE16-B34101DD0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0BDF79B-135B-AE56-F976-2A347F17F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F11EAF4-0AC2-F56F-5E8D-F18780A22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2E23DFF-D36E-FF74-4722-404513F84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130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F21D5A7-2019-837F-93F5-F1D460B28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B424F25-0C5E-A414-EE9D-9CD094C18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AEE107D-4061-D7AF-8884-AD0A47CA3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81419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B999EF-2E5C-8998-F8EC-0725BB8A5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6F73133-2475-FF08-8755-FA192072C2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4C87FBF-0D6C-BB59-88E9-4061540F65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82A87AA-1679-93CD-9FEB-316FF7EBE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9E53B45-B69B-A63F-13A1-586B75336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16B9376-6C5C-E8A0-56D0-A5CBF2079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7087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40993B-8905-4A28-E46A-8392036BE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FC02B05-507D-4ADD-D4A4-36CE54E034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1637A76-7414-15E2-37B7-A2D11F2A0C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0C6F4D3-B8DE-4AD9-8318-50182AADE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569634-3E1A-45F1-2538-35FC362A2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D68CFD4-3935-59FF-04AB-743EEADAC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9747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91672C-9584-ADBA-58FC-C4DAE6A87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B3D049C-FDC8-CAAC-84DA-E8AF124411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CCEA9C-9A04-C93C-A42B-92872A7B4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25E360-0E79-04F8-5099-99204F413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FD7B21-B1F1-6A66-019C-9D3023A9F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8844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1AC4D5A-FC74-BB97-C4FC-3887DF2216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E909980-3F0E-2F7A-8C68-DBFB21EB82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EBD08A-8EDD-30AA-FCC7-DEE515A86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795A92-400D-8695-C73F-68A9C7923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4CE691-FE35-D142-C033-41172C71E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1976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B301488-E2FD-10DA-438D-7C227ACBC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0E4A784-9528-05B1-E5AD-0F42D8682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39E040-89AD-F21A-8E68-F6951EFDBF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567BA6-CBC2-4FF0-810E-3ED1BF2C4381}" type="datetimeFigureOut">
              <a:rPr lang="zh-CN" altLang="en-US" smtClean="0"/>
              <a:t>2025/11/19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810621E-343D-5ED1-73EE-C36E2F0D1B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A2FD49-3D39-0E28-39AE-E1D4302F13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74168C-7CD7-4A79-AD18-9DAEF27396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2492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2309.11495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8B0C4B1-B12B-1259-2708-F66B372AB7C3}"/>
              </a:ext>
            </a:extLst>
          </p:cNvPr>
          <p:cNvSpPr txBox="1"/>
          <p:nvPr/>
        </p:nvSpPr>
        <p:spPr>
          <a:xfrm>
            <a:off x="479719" y="151179"/>
            <a:ext cx="11219222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Idea: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Inject the assumption of possible faults (hallucinations or factual errors) in a follow‑up prompt to trigger a self‑fact‑checking cycle.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The LLM re‑examines the original answer under this “fault injection” premise and produces a concise corrected final answer.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Workflow: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Question to LLM -&gt;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-&gt; prompt with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fault injection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-&gt;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(Borui: could also use mutations in recheck process, which surely can improve effectiveness)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Prompt example:</a:t>
            </a:r>
          </a:p>
          <a:p>
            <a:r>
              <a:rPr lang="en-US" altLang="zh-CN" sz="2000" dirty="0">
                <a:latin typeface="+mn-ea"/>
                <a:cs typeface="Arial" panose="020B0604020202020204" pitchFamily="34" charset="0"/>
              </a:rPr>
              <a:t>RECHECK_PROMPT = """The **original response** contains hallucinations or factual errors in answering the given question. Your task is to fact-check it and provide a corrected one-sentence answer.</a:t>
            </a:r>
          </a:p>
          <a:p>
            <a:r>
              <a:rPr lang="en-US" altLang="zh-CN" sz="2000" dirty="0">
                <a:latin typeface="+mn-ea"/>
                <a:cs typeface="Arial" panose="020B0604020202020204" pitchFamily="34" charset="0"/>
              </a:rPr>
              <a:t>…</a:t>
            </a:r>
          </a:p>
          <a:p>
            <a:r>
              <a:rPr lang="en-US" altLang="zh-CN" sz="2000" dirty="0">
                <a:latin typeface="+mn-ea"/>
                <a:cs typeface="Arial" panose="020B0604020202020204" pitchFamily="34" charset="0"/>
              </a:rPr>
              <a:t>"""</a:t>
            </a:r>
          </a:p>
        </p:txBody>
      </p:sp>
    </p:spTree>
    <p:extLst>
      <p:ext uri="{BB962C8B-B14F-4D97-AF65-F5344CB8AC3E}">
        <p14:creationId xmlns:p14="http://schemas.microsoft.com/office/powerpoint/2010/main" val="2045353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02CF2-3B27-A241-3FBF-A866299B1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C5DEC9B-2475-63EE-2956-66364BD805A7}"/>
              </a:ext>
            </a:extLst>
          </p:cNvPr>
          <p:cNvSpPr txBox="1"/>
          <p:nvPr/>
        </p:nvSpPr>
        <p:spPr>
          <a:xfrm>
            <a:off x="479719" y="151179"/>
            <a:ext cx="11219222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Baseline </a:t>
            </a:r>
            <a:r>
              <a:rPr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CoT’s</a:t>
            </a:r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 idea: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Use LLM’s deep-thinking mode and prompt LLM generate a more accurate answer.</a:t>
            </a:r>
          </a:p>
          <a:p>
            <a:r>
              <a:rPr lang="en-US" altLang="zh-CN" dirty="0"/>
              <a:t>COT_PROMPT = """You are given a question and original response.</a:t>
            </a:r>
            <a:br>
              <a:rPr lang="en-US" altLang="zh-CN" dirty="0"/>
            </a:br>
            <a:r>
              <a:rPr lang="en-US" altLang="zh-CN" dirty="0"/>
              <a:t>Let's think step by step and provide the most accurate final answer.</a:t>
            </a:r>
            <a:br>
              <a:rPr lang="en-US" altLang="zh-CN" dirty="0"/>
            </a:br>
            <a:r>
              <a:rPr lang="en-US" altLang="zh-CN" dirty="0"/>
              <a:t>"""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Baseline </a:t>
            </a:r>
            <a:r>
              <a:rPr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CoVe’s</a:t>
            </a:r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 idea: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https://arxiv.org/pdf/2309.11495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Generates a set of targeted verification questions that help fact‑check different parts of its original reasoning.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Next, the LLM independently answers these verification questions, often using retrieval, and uses the verified facts to revise the original answer.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5280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4BB9-73A1-D41C-F92F-3EA3D4F1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F8B3972-7AD1-1633-2C19-92F39550E868}"/>
              </a:ext>
            </a:extLst>
          </p:cNvPr>
          <p:cNvSpPr txBox="1"/>
          <p:nvPr/>
        </p:nvSpPr>
        <p:spPr>
          <a:xfrm>
            <a:off x="479719" y="151179"/>
            <a:ext cx="11219222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Comparison experiment</a:t>
            </a:r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dataset: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224 (85 from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TruthfulQA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63 from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TriviaQA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76 from HotpotQA)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Randomly select about 50%(111) samples to generate hallucination base response</a:t>
            </a:r>
          </a:p>
          <a:p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Baseline: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CoT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(chain-of-thought),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CoVe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(chain-of-verification,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MetaAI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result parameters: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provided by approaches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 hallucination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unsuccessful repair: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overcorrection: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base_response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00B0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 hallucination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final_answer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hallucination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</a:t>
            </a:r>
          </a:p>
        </p:txBody>
      </p:sp>
    </p:spTree>
    <p:extLst>
      <p:ext uri="{BB962C8B-B14F-4D97-AF65-F5344CB8AC3E}">
        <p14:creationId xmlns:p14="http://schemas.microsoft.com/office/powerpoint/2010/main" val="9479314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B5B9A-31CF-8F79-EE06-A27A4F0A0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图表, 条形图&#10;&#10;AI 生成的内容可能不正确。">
            <a:extLst>
              <a:ext uri="{FF2B5EF4-FFF2-40B4-BE49-F238E27FC236}">
                <a16:creationId xmlns:a16="http://schemas.microsoft.com/office/drawing/2014/main" id="{33944433-05EC-4E5C-2432-96D536C1AC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3451" y="59230"/>
            <a:ext cx="3924978" cy="3210648"/>
          </a:xfrm>
          <a:prstGeom prst="rect">
            <a:avLst/>
          </a:prstGeom>
        </p:spPr>
      </p:pic>
      <p:pic>
        <p:nvPicPr>
          <p:cNvPr id="7" name="图片 6" descr="图表, 条形图&#10;&#10;AI 生成的内容可能不正确。">
            <a:extLst>
              <a:ext uri="{FF2B5EF4-FFF2-40B4-BE49-F238E27FC236}">
                <a16:creationId xmlns:a16="http://schemas.microsoft.com/office/drawing/2014/main" id="{8C50FD57-46EA-4B78-D86C-7E8E4FBD71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3573" y="3429000"/>
            <a:ext cx="3924978" cy="3210648"/>
          </a:xfrm>
          <a:prstGeom prst="rect">
            <a:avLst/>
          </a:prstGeom>
        </p:spPr>
      </p:pic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DCC2F5A7-2FAD-0E56-694F-3D8F18AB44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9189131"/>
              </p:ext>
            </p:extLst>
          </p:nvPr>
        </p:nvGraphicFramePr>
        <p:xfrm>
          <a:off x="6096000" y="3429000"/>
          <a:ext cx="5948220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9644">
                  <a:extLst>
                    <a:ext uri="{9D8B030D-6E8A-4147-A177-3AD203B41FA5}">
                      <a16:colId xmlns:a16="http://schemas.microsoft.com/office/drawing/2014/main" val="4101249701"/>
                    </a:ext>
                  </a:extLst>
                </a:gridCol>
                <a:gridCol w="1189644">
                  <a:extLst>
                    <a:ext uri="{9D8B030D-6E8A-4147-A177-3AD203B41FA5}">
                      <a16:colId xmlns:a16="http://schemas.microsoft.com/office/drawing/2014/main" val="64436008"/>
                    </a:ext>
                  </a:extLst>
                </a:gridCol>
                <a:gridCol w="1189644">
                  <a:extLst>
                    <a:ext uri="{9D8B030D-6E8A-4147-A177-3AD203B41FA5}">
                      <a16:colId xmlns:a16="http://schemas.microsoft.com/office/drawing/2014/main" val="2870068380"/>
                    </a:ext>
                  </a:extLst>
                </a:gridCol>
                <a:gridCol w="1189644">
                  <a:extLst>
                    <a:ext uri="{9D8B030D-6E8A-4147-A177-3AD203B41FA5}">
                      <a16:colId xmlns:a16="http://schemas.microsoft.com/office/drawing/2014/main" val="2903000029"/>
                    </a:ext>
                  </a:extLst>
                </a:gridCol>
                <a:gridCol w="1189644">
                  <a:extLst>
                    <a:ext uri="{9D8B030D-6E8A-4147-A177-3AD203B41FA5}">
                      <a16:colId xmlns:a16="http://schemas.microsoft.com/office/drawing/2014/main" val="3141391406"/>
                    </a:ext>
                  </a:extLst>
                </a:gridCol>
              </a:tblGrid>
              <a:tr h="673835"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Token Cost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Chain-of-Thought (</a:t>
                      </a:r>
                      <a:r>
                        <a:rPr lang="en-US" altLang="zh-CN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CoT</a:t>
                      </a: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Chain-of-Verification (</a:t>
                      </a:r>
                      <a:r>
                        <a:rPr lang="en-US" altLang="zh-CN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CoVe</a:t>
                      </a: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our approach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our approach</a:t>
                      </a:r>
                      <a:r>
                        <a:rPr lang="zh-CN" alt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mutations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6647714"/>
                  </a:ext>
                </a:extLst>
              </a:tr>
              <a:tr h="28076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gpt-4o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97.97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2073.16</a:t>
                      </a:r>
                      <a:endParaRPr lang="zh-CN" altLang="en-US" sz="14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289.43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1569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1162633"/>
                  </a:ext>
                </a:extLst>
              </a:tr>
              <a:tr h="28076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84.96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5619.32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305.13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1271.36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6985772"/>
                  </a:ext>
                </a:extLst>
              </a:tr>
            </a:tbl>
          </a:graphicData>
        </a:graphic>
      </p:graphicFrame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469CD08E-F3B2-84D2-93AA-148551C0E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963427"/>
              </p:ext>
            </p:extLst>
          </p:nvPr>
        </p:nvGraphicFramePr>
        <p:xfrm>
          <a:off x="6096000" y="4929242"/>
          <a:ext cx="5948220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9644">
                  <a:extLst>
                    <a:ext uri="{9D8B030D-6E8A-4147-A177-3AD203B41FA5}">
                      <a16:colId xmlns:a16="http://schemas.microsoft.com/office/drawing/2014/main" val="4101249701"/>
                    </a:ext>
                  </a:extLst>
                </a:gridCol>
                <a:gridCol w="1189644">
                  <a:extLst>
                    <a:ext uri="{9D8B030D-6E8A-4147-A177-3AD203B41FA5}">
                      <a16:colId xmlns:a16="http://schemas.microsoft.com/office/drawing/2014/main" val="64436008"/>
                    </a:ext>
                  </a:extLst>
                </a:gridCol>
                <a:gridCol w="1189644">
                  <a:extLst>
                    <a:ext uri="{9D8B030D-6E8A-4147-A177-3AD203B41FA5}">
                      <a16:colId xmlns:a16="http://schemas.microsoft.com/office/drawing/2014/main" val="2870068380"/>
                    </a:ext>
                  </a:extLst>
                </a:gridCol>
                <a:gridCol w="1189644">
                  <a:extLst>
                    <a:ext uri="{9D8B030D-6E8A-4147-A177-3AD203B41FA5}">
                      <a16:colId xmlns:a16="http://schemas.microsoft.com/office/drawing/2014/main" val="2903000029"/>
                    </a:ext>
                  </a:extLst>
                </a:gridCol>
                <a:gridCol w="1189644">
                  <a:extLst>
                    <a:ext uri="{9D8B030D-6E8A-4147-A177-3AD203B41FA5}">
                      <a16:colId xmlns:a16="http://schemas.microsoft.com/office/drawing/2014/main" val="3141391406"/>
                    </a:ext>
                  </a:extLst>
                </a:gridCol>
              </a:tblGrid>
              <a:tr h="6666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Average Time Cost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Chain-of-Thought (</a:t>
                      </a:r>
                      <a:r>
                        <a:rPr lang="en-US" altLang="zh-CN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CoT</a:t>
                      </a: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Chain-of-Verification (</a:t>
                      </a:r>
                      <a:r>
                        <a:rPr lang="en-US" altLang="zh-CN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CoVe</a:t>
                      </a: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our approach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our approach</a:t>
                      </a:r>
                      <a:r>
                        <a:rPr lang="zh-CN" alt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mutations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6647714"/>
                  </a:ext>
                </a:extLst>
              </a:tr>
              <a:tr h="27776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gpt-4o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17.43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1.43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17.09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1162633"/>
                  </a:ext>
                </a:extLst>
              </a:tr>
              <a:tr h="27776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gpt-5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13.46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155.00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27.96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240.96</a:t>
                      </a:r>
                      <a:endParaRPr lang="zh-CN" alt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6985772"/>
                  </a:ext>
                </a:extLst>
              </a:tr>
            </a:tbl>
          </a:graphicData>
        </a:graphic>
      </p:graphicFrame>
      <p:pic>
        <p:nvPicPr>
          <p:cNvPr id="4" name="图片 3" descr="图表, 条形图&#10;&#10;AI 生成的内容可能不正确。">
            <a:extLst>
              <a:ext uri="{FF2B5EF4-FFF2-40B4-BE49-F238E27FC236}">
                <a16:creationId xmlns:a16="http://schemas.microsoft.com/office/drawing/2014/main" id="{50E62019-7A16-290C-1833-4A1FD6FCE9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3573" y="59230"/>
            <a:ext cx="3924978" cy="3210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3063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A533DA-5BC4-3128-4B72-2E2279D8A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9776EFB-8D87-EA22-B01C-4E1567653A07}"/>
              </a:ext>
            </a:extLst>
          </p:cNvPr>
          <p:cNvSpPr txBox="1"/>
          <p:nvPr/>
        </p:nvSpPr>
        <p:spPr>
          <a:xfrm>
            <a:off x="488956" y="0"/>
            <a:ext cx="10890245" cy="69249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results on gpt-4o:</a:t>
            </a:r>
          </a:p>
          <a:p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Our</a:t>
            </a:r>
            <a:r>
              <a:rPr lang="zh-CN" alt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approach:</a:t>
            </a:r>
            <a:r>
              <a:rPr lang="zh-CN" alt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35/220 (50% -&gt; 15.91%)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92/109 (84.40%), unsuccessful repair: 9/109 (8.26%), unable repair: 8/109 (7.34%)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20/111 (18.02%)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289.43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1.4267s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CoT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89/224 (50%-&gt; 39.73%)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54/111 (48.65%), unsuccessful repair: 57/111 (51.35%)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32/113 (28.32%)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2560.37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20.6160s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CoVe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92/224 (50%-&gt; 41.07%)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45/112 (40.54%), unsuccessful repair: 66/111 (59.46%)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26/113 (23.01%)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4182.46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143.3823s</a:t>
            </a:r>
          </a:p>
        </p:txBody>
      </p:sp>
    </p:spTree>
    <p:extLst>
      <p:ext uri="{BB962C8B-B14F-4D97-AF65-F5344CB8AC3E}">
        <p14:creationId xmlns:p14="http://schemas.microsoft.com/office/powerpoint/2010/main" val="35652638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DB12D75-5FB7-D508-FD21-61C12C559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53B29AC9-E649-A6F2-DEAA-169F40FF0A5F}"/>
              </a:ext>
            </a:extLst>
          </p:cNvPr>
          <p:cNvSpPr txBox="1"/>
          <p:nvPr/>
        </p:nvSpPr>
        <p:spPr>
          <a:xfrm>
            <a:off x="488956" y="0"/>
            <a:ext cx="10890245" cy="69249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Experiment results </a:t>
            </a:r>
            <a:r>
              <a:rPr lang="en-US" altLang="zh-CN" sz="2400" b="1">
                <a:latin typeface="Arial" panose="020B0604020202020204" pitchFamily="34" charset="0"/>
                <a:cs typeface="Arial" panose="020B0604020202020204" pitchFamily="34" charset="0"/>
              </a:rPr>
              <a:t>on gpt-5:</a:t>
            </a:r>
            <a:endParaRPr lang="en-US" altLang="zh-C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Our</a:t>
            </a:r>
            <a:r>
              <a:rPr lang="zh-CN" alt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approach:</a:t>
            </a:r>
            <a:r>
              <a:rPr lang="zh-CN" alt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zh-C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35/220 (50% -&gt; 15.91%)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92/109 (84.40%), unsuccessful repair: 9/109 (8.26%), unable repair: 8/109 (7.34%)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20/111 (18.02%)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289.43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1.4267s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CoT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89/224 (50%-&gt; 39.73%)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54/111 (48.65%), unsuccessful repair: 57/111 (51.35%)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32/113 (28.32%)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2560.37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20.6160s</a:t>
            </a:r>
          </a:p>
          <a:p>
            <a:endParaRPr lang="en-US" altLang="zh-C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CoVe</a:t>
            </a:r>
            <a:r>
              <a:rPr lang="en-US" altLang="zh-CN" sz="20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Total hallucination after repair: 92/224 (50%-&gt; 41.07%)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Hallucination repair: 45/112 (40.54%), unsuccessful repair: 66/111 (59.46%)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Unnecessary repair: 26/113 (23.01%)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token cost pre question: 4182.46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Avg time cost pre question: 143.3823s</a:t>
            </a:r>
          </a:p>
        </p:txBody>
      </p:sp>
    </p:spTree>
    <p:extLst>
      <p:ext uri="{BB962C8B-B14F-4D97-AF65-F5344CB8AC3E}">
        <p14:creationId xmlns:p14="http://schemas.microsoft.com/office/powerpoint/2010/main" val="24582172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B274B-72A9-FC13-E7BE-D663AC68A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492F690-233A-A801-D794-02C398189544}"/>
              </a:ext>
            </a:extLst>
          </p:cNvPr>
          <p:cNvSpPr txBox="1"/>
          <p:nvPr/>
        </p:nvSpPr>
        <p:spPr>
          <a:xfrm>
            <a:off x="479719" y="151179"/>
            <a:ext cx="112325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Conclusion and TODO List:</a:t>
            </a:r>
          </a:p>
        </p:txBody>
      </p:sp>
    </p:spTree>
    <p:extLst>
      <p:ext uri="{BB962C8B-B14F-4D97-AF65-F5344CB8AC3E}">
        <p14:creationId xmlns:p14="http://schemas.microsoft.com/office/powerpoint/2010/main" val="360439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3378</TotalTime>
  <Words>720</Words>
  <Application>Microsoft Office PowerPoint</Application>
  <PresentationFormat>宽屏</PresentationFormat>
  <Paragraphs>106</Paragraphs>
  <Slides>7</Slides>
  <Notes>0</Notes>
  <HiddenSlides>2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Borui Yang</dc:creator>
  <cp:lastModifiedBy>zbybr-PC</cp:lastModifiedBy>
  <cp:revision>17</cp:revision>
  <dcterms:created xsi:type="dcterms:W3CDTF">2025-10-23T01:47:16Z</dcterms:created>
  <dcterms:modified xsi:type="dcterms:W3CDTF">2025-11-19T09:42:26Z</dcterms:modified>
</cp:coreProperties>
</file>