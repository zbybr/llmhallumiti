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65" r:id="rId5"/>
    <p:sldId id="264" r:id="rId6"/>
    <p:sldId id="263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9.11495" TargetMode="External"/><Relationship Id="rId2" Type="http://schemas.openxmlformats.org/officeDocument/2006/relationships/hyperlink" Target="https://arxiv.org/pdf/2201.11903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base response -&gt; generate mutations -&gt; prompt LLM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final answer</a:t>
            </a:r>
          </a:p>
        </p:txBody>
      </p:sp>
      <p:pic>
        <p:nvPicPr>
          <p:cNvPr id="3" name="图片 2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370D5F52-36D5-4846-ACD1-5FF887A94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67" y="3366669"/>
            <a:ext cx="5724525" cy="220027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F340774-0650-C171-2E71-F98F9F11AEB8}"/>
              </a:ext>
            </a:extLst>
          </p:cNvPr>
          <p:cNvSpPr txBox="1"/>
          <p:nvPr/>
        </p:nvSpPr>
        <p:spPr>
          <a:xfrm>
            <a:off x="479718" y="5566944"/>
            <a:ext cx="112192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dirty="0">
                <a:latin typeface="+mn-ea"/>
                <a:cs typeface="Arial" panose="020B0604020202020204" pitchFamily="34" charset="0"/>
              </a:rPr>
              <a:t>RECHECK_PROMPT = """The **original response** contains hallucinations or factual errors in answering the given question. Your task is to fact-check it and provide a corrected one-sentence answer."""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https://arxiv.org/pdf/2201.11903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 """</a:t>
            </a:r>
            <a:br>
              <a:rPr lang="en-US" altLang="zh-CN" dirty="0"/>
            </a:b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</p:txBody>
      </p:sp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5386AB0F-D9EC-A301-6DDD-43BA8C7022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67" y="3629054"/>
            <a:ext cx="5724525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224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50%(113)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(chain-of-thought, Google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Reseach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>
                <a:latin typeface="Arial" panose="020B0604020202020204" pitchFamily="34" charset="0"/>
                <a:cs typeface="Arial" panose="020B0604020202020204" pitchFamily="34" charset="0"/>
              </a:rPr>
              <a:t>hallucination rate after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overcorrection: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Number of mutations: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5(synonym)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C2320FE-5B00-0DB9-62CC-8B2E8CA9A69C}"/>
              </a:ext>
            </a:extLst>
          </p:cNvPr>
          <p:cNvSpPr txBox="1"/>
          <p:nvPr/>
        </p:nvSpPr>
        <p:spPr>
          <a:xfrm>
            <a:off x="479719" y="151179"/>
            <a:ext cx="11219222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Samples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question, B: base response, F: final answer C: Correct answer</a:t>
            </a: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hallucination successful repair: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Americans are taller on average than which other places?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Americans are taller on average than the Dutch.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 average, Americans are taller than populations in many Asian and Latin American countries, such as China, India, Japan, Mexico, Peru, Indonesia, and the Philippines.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hallucination unsuccessful repair: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What was the founding year of the county where Weber's Store is located?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county where Weber's Store is located was founded in 1899.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F: </a:t>
            </a:r>
            <a:r>
              <a:rPr lang="en-US" altLang="zh-CN" sz="2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founding year of the county where Weber's Store is located was not 1899.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county where Weber's Store is located was founded in 1905.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overcorrection: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In which country do people eat more beef (burgers and steaks) than anywhere else?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Argentina, people eat more beef than anywhere else.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Uruguay has the highest per-capita beef consumption.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C: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Argentina, people eat more beef than anywhere else.</a:t>
            </a:r>
          </a:p>
        </p:txBody>
      </p:sp>
    </p:spTree>
    <p:extLst>
      <p:ext uri="{BB962C8B-B14F-4D97-AF65-F5344CB8AC3E}">
        <p14:creationId xmlns:p14="http://schemas.microsoft.com/office/powerpoint/2010/main" val="2624921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80B8AE8-EF79-1E3C-89A4-99C9231F5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132" y="735954"/>
            <a:ext cx="4785360" cy="518922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8517C15-01C5-441A-2A8F-8696835CB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508" y="735954"/>
            <a:ext cx="4785360" cy="518922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B924336-BE1D-805E-6FF2-A38E6E583AAE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528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987470"/>
              </p:ext>
            </p:extLst>
          </p:nvPr>
        </p:nvGraphicFramePr>
        <p:xfrm>
          <a:off x="6096000" y="735954"/>
          <a:ext cx="5948220" cy="1283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1370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1620127239"/>
                    </a:ext>
                  </a:extLst>
                </a:gridCol>
              </a:tblGrid>
              <a:tr h="673835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Token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(CoT)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(CoVe)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97.97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2073.16</a:t>
                      </a:r>
                      <a:endParaRPr lang="zh-CN" altLang="en-US" sz="14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2892.71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1569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5619.32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5060.35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1271.36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591841"/>
              </p:ext>
            </p:extLst>
          </p:nvPr>
        </p:nvGraphicFramePr>
        <p:xfrm>
          <a:off x="6096000" y="2019389"/>
          <a:ext cx="5948220" cy="12762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1370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991370">
                  <a:extLst>
                    <a:ext uri="{9D8B030D-6E8A-4147-A177-3AD203B41FA5}">
                      <a16:colId xmlns:a16="http://schemas.microsoft.com/office/drawing/2014/main" val="4228366896"/>
                    </a:ext>
                  </a:extLst>
                </a:gridCol>
              </a:tblGrid>
              <a:tr h="666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Time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34.5704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17.09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13.46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155.00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78.0071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240.96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C0CCBC1A-83EC-228E-417D-8BB79203B20F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44F4E3A2-D412-973B-DC64-4A6FAF8F3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80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EBDEBA0-48D9-0570-3AD8-8CC23F54EAC7}"/>
              </a:ext>
            </a:extLst>
          </p:cNvPr>
          <p:cNvSpPr txBox="1"/>
          <p:nvPr/>
        </p:nvSpPr>
        <p:spPr>
          <a:xfrm>
            <a:off x="479719" y="151179"/>
            <a:ext cx="1121922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 Our approach outperformed other approaches on gpt-4o and gpt-5, when using mutations, we could even perform better.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2. Consider the usage of tokens and time, our approach spent less time and tokens than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TODO list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 Any other experiment parameters could be involved in?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2. Find SOTA method using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+ RAG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3. Discuss whether our approach should use RAG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4. Extend experiments on LlaMa3(open-sourced) and Gemini/Claude (closed-sourced)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5. Build experiments on the influence of LLM temperature in baseline (FSE25 rebuttal)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6. Build dataset of final large-scale experiments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3636</TotalTime>
  <Words>734</Words>
  <Application>Microsoft Office PowerPoint</Application>
  <PresentationFormat>宽屏</PresentationFormat>
  <Paragraphs>96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20</cp:revision>
  <dcterms:created xsi:type="dcterms:W3CDTF">2025-10-23T01:47:16Z</dcterms:created>
  <dcterms:modified xsi:type="dcterms:W3CDTF">2025-11-27T12:32:45Z</dcterms:modified>
</cp:coreProperties>
</file>