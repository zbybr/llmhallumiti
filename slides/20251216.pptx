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5" r:id="rId4"/>
    <p:sldId id="266" r:id="rId5"/>
    <p:sldId id="257" r:id="rId6"/>
    <p:sldId id="264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600F7-6B72-F3AD-8C69-52605960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3BAB1-59F8-9FBB-5DBB-E06924AA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2ABE4-245E-CE41-36E8-3801435D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EB191-3F46-E5A2-0D10-F0BF6B71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F3216-1358-2913-E5EE-C9DCAC8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3FB9-2A7E-F0A5-D17B-4767E0B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5ADB3-0F06-48FA-69F7-57F5CA10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798C3-FB6F-BDAD-6B4A-6C445B0C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60D96-E3C1-4D61-8800-ABF0CE95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3D0D-46A8-A743-8ABF-9BA7071C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7920A-EA26-D382-E24A-1B38641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9D1C0-C37D-12FA-0D25-68F67E78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E6CAB-49CB-5404-4835-0BC3E7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8C89-C45D-6855-ABF5-D2EF7521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6FDB-FA25-8F71-9CE4-83636F5E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62E18-4453-6DEB-B40C-CD2D81B1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4DF9-7C85-1FAF-9816-16C3CDB1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A9494-DD73-02A3-C7B6-8F05616C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527A-1605-7653-7CCF-39580F6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4C8DD-331C-D9D9-7872-6CC4E16C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2A237-BB62-8608-F758-8A097230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0D5A-9D5C-9689-9B10-FA83B1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6C1F5-03D6-81B7-9E30-61E5BFE8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37C45-C805-6CCE-9ADB-BF729371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031409-7F3E-E7F4-C69E-4878CDFC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81B89-2122-46B4-2828-B0890167E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417C3-70AD-8C62-0982-0DB7C4C5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CD5712-D9D7-272C-A163-2C8B24A0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DD4F1-EB8F-0049-802E-3128C423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9D364-9601-498C-AE16-B34101DD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F79B-135B-AE56-F976-2A347F17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1EAF4-0AC2-F56F-5E8D-F18780A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E23DFF-D36E-FF74-4722-404513F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1D5A7-2019-837F-93F5-F1D460B2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24F25-0C5E-A414-EE9D-9CD094C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E107D-4061-D7AF-8884-AD0A47C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999EF-2E5C-8998-F8EC-0725BB8A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73133-2475-FF08-8755-FA192072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87FBF-0D6C-BB59-88E9-4061540F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A87AA-1679-93CD-9FEB-316FF7EB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53B45-B69B-A63F-13A1-586B7533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9376-6C5C-E8A0-56D0-A5CBF20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8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0993B-8905-4A28-E46A-8392036B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02B05-507D-4ADD-D4A4-36CE54E0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37A76-7414-15E2-37B7-A2D11F2A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F4D3-B8DE-4AD9-8318-50182AA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69634-3E1A-45F1-2538-35FC362A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8CFD4-3935-59FF-04AB-743EEADA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672C-9584-ADBA-58FC-C4DAE6A8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049C-FDC8-CAAC-84DA-E8AF1244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CEA9C-9A04-C93C-A42B-92872A7B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E360-0E79-04F8-5099-99204F4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D7B21-B1F1-6A66-019C-9D3023A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C4D5A-FC74-BB97-C4FC-3887DF221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09980-3F0E-2F7A-8C68-DBFB21EB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BD08A-8EDD-30AA-FCC7-DEE515A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95A92-400D-8695-C73F-68A9C79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E691-FE35-D142-C033-41172C71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301488-E2FD-10DA-438D-7C227ACB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784-9528-05B1-E5AD-0F42D868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9E040-89AD-F21A-8E68-F6951EFDB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7BA6-CBC2-4FF0-810E-3ED1BF2C43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621E-343D-5ED1-73EE-C36E2F0D1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2FD49-3D39-0E28-39AE-E1D4302F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9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9.11495" TargetMode="External"/><Relationship Id="rId2" Type="http://schemas.openxmlformats.org/officeDocument/2006/relationships/hyperlink" Target="https://arxiv.org/pdf/2201.1190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B0C4B1-B12B-1259-2708-F66B372AB7C3}"/>
              </a:ext>
            </a:extLst>
          </p:cNvPr>
          <p:cNvSpPr txBox="1"/>
          <p:nvPr/>
        </p:nvSpPr>
        <p:spPr>
          <a:xfrm>
            <a:off x="479719" y="151179"/>
            <a:ext cx="1121922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Inject the assumption of possible faults (hallucinations or factual errors) in a follow‑up prompt to trigger a self‑fact‑checking cycle.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Question to LLM -&gt; base response -&gt; generate mutations -&gt; prompt LLM with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-&gt; final answer</a:t>
            </a:r>
          </a:p>
        </p:txBody>
      </p:sp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70D5F52-36D5-4846-ACD1-5FF887A94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066" y="3066974"/>
            <a:ext cx="5724525" cy="22002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F340774-0650-C171-2E71-F98F9F11AEB8}"/>
              </a:ext>
            </a:extLst>
          </p:cNvPr>
          <p:cNvSpPr txBox="1"/>
          <p:nvPr/>
        </p:nvSpPr>
        <p:spPr>
          <a:xfrm>
            <a:off x="479718" y="5566944"/>
            <a:ext cx="112192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Prompt example:</a:t>
            </a:r>
          </a:p>
          <a:p>
            <a:r>
              <a:rPr lang="en-US" altLang="zh-CN" dirty="0">
                <a:latin typeface="+mn-ea"/>
                <a:cs typeface="Arial" panose="020B0604020202020204" pitchFamily="34" charset="0"/>
              </a:rPr>
              <a:t>RECHECK_PROMPT = """The **original response**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may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contains hallucinations or factual errors in answering the given question. Your task is to fact-check it and provide a corrected one-sentence answer."""</a:t>
            </a:r>
          </a:p>
        </p:txBody>
      </p:sp>
    </p:spTree>
    <p:extLst>
      <p:ext uri="{BB962C8B-B14F-4D97-AF65-F5344CB8AC3E}">
        <p14:creationId xmlns:p14="http://schemas.microsoft.com/office/powerpoint/2010/main" val="204535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2CF2-3B27-A241-3FBF-A866299B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5DEC9B-2475-63EE-2956-66364BD805A7}"/>
              </a:ext>
            </a:extLst>
          </p:cNvPr>
          <p:cNvSpPr txBox="1"/>
          <p:nvPr/>
        </p:nvSpPr>
        <p:spPr>
          <a:xfrm>
            <a:off x="479719" y="151179"/>
            <a:ext cx="112192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CoT’s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idea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https://arxiv.org/pdf/2201.11903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Use LLM’s deep-thinking mode and prompt LLM generate a more accurate answer.</a:t>
            </a:r>
          </a:p>
          <a:p>
            <a:r>
              <a:rPr lang="en-US" altLang="zh-CN" dirty="0"/>
              <a:t>COT_PROMPT = """You are given a question and original response.</a:t>
            </a:r>
            <a:br>
              <a:rPr lang="en-US" altLang="zh-CN" dirty="0"/>
            </a:br>
            <a:r>
              <a:rPr lang="en-US" altLang="zh-CN" dirty="0"/>
              <a:t>Let's think step by step and provide the most accurate final answer. """</a:t>
            </a:r>
            <a:br>
              <a:rPr lang="en-US" altLang="zh-CN" dirty="0"/>
            </a:b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CoVe’s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idea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https://arxiv.org/pdf/2309.11495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Generates a set of targeted verification questions that help fact‑check different parts of its original reasoning.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Next, the LLM independently answers these verification questions, often using retrieval, and uses the verified facts to revise the original answer.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5386AB0F-D9EC-A301-6DDD-43BA8C702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067" y="3629054"/>
            <a:ext cx="57245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8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98100F-D511-C3F5-4EF0-57F49F02315C}"/>
              </a:ext>
            </a:extLst>
          </p:cNvPr>
          <p:cNvSpPr txBox="1"/>
          <p:nvPr/>
        </p:nvSpPr>
        <p:spPr>
          <a:xfrm>
            <a:off x="479719" y="151179"/>
            <a:ext cx="1121922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Verbalized Sampling: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You are a helpful assistant. For each query, please generate a set of five possible responses, each within a separate &lt;response&gt; tag. Responses should each include a &lt;text&gt; and a numeric &lt;probability&gt;. Please sample at random from the [full distribution / tails of the distribution, such that the probability of each response is less than 0.10].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…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&lt;response&gt;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&lt;text&gt;context&lt;/text&gt;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&lt;probability&gt;X&lt;/probability&gt;	X=The probability that the LLM will output this context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2049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03348E-BD1F-CC99-2F45-C1012472DEE4}"/>
              </a:ext>
            </a:extLst>
          </p:cNvPr>
          <p:cNvSpPr txBox="1"/>
          <p:nvPr/>
        </p:nvSpPr>
        <p:spPr>
          <a:xfrm>
            <a:off x="479719" y="151179"/>
            <a:ext cx="1121922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Enhanced Verbalized Sampling: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…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Responses should each include: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-a numeric &lt;confidence&gt; field representing the model's confidence score for the factual correctness of the answer (range 0.00–1.00, two decimal places).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…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&lt;response&gt;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&lt;text&gt;context&lt;/text&gt;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&lt;probability&gt;X&lt;/probability&gt;	X=The probability that the LLM will output this context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&lt;confidence&gt;Y&lt;/confidence&gt;	Y=The model's confidence score for the factual correctness of the context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4271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4BB9-73A1-D41C-F92F-3EA3D4F1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8B3972-7AD1-1633-2C19-92F39550E868}"/>
              </a:ext>
            </a:extLst>
          </p:cNvPr>
          <p:cNvSpPr txBox="1"/>
          <p:nvPr/>
        </p:nvSpPr>
        <p:spPr>
          <a:xfrm>
            <a:off x="479719" y="151179"/>
            <a:ext cx="1121922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Comparison experiment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dataset: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150 samples: 100 from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TruthfulQA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, with 49 hallucination samples. 50 from 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HotpotQA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, with 25 hallucination samples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Baseline: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(chain-of-thought, Google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Reseach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CoVe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(chain-of-verification,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MetaAI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result parameters: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rate after repair: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provided by approaches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unsuccessful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overcorrection: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pass@6: at least 1 is correct in the checking results of (mutations +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Number of mutations: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5(synonym)</a:t>
            </a:r>
          </a:p>
        </p:txBody>
      </p:sp>
    </p:spTree>
    <p:extLst>
      <p:ext uri="{BB962C8B-B14F-4D97-AF65-F5344CB8AC3E}">
        <p14:creationId xmlns:p14="http://schemas.microsoft.com/office/powerpoint/2010/main" val="94793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B924336-BE1D-805E-6FF2-A38E6E583AAE}"/>
              </a:ext>
            </a:extLst>
          </p:cNvPr>
          <p:cNvSpPr txBox="1"/>
          <p:nvPr/>
        </p:nvSpPr>
        <p:spPr>
          <a:xfrm>
            <a:off x="479719" y="151179"/>
            <a:ext cx="1121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evaluation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图表, 条形图&#10;&#10;AI 生成的内容可能不正确。">
            <a:extLst>
              <a:ext uri="{FF2B5EF4-FFF2-40B4-BE49-F238E27FC236}">
                <a16:creationId xmlns:a16="http://schemas.microsoft.com/office/drawing/2014/main" id="{FB57E768-1592-5B5F-A7B9-87E562720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0" y="735954"/>
            <a:ext cx="4785360" cy="5189220"/>
          </a:xfrm>
          <a:prstGeom prst="rect">
            <a:avLst/>
          </a:prstGeom>
        </p:spPr>
      </p:pic>
      <p:pic>
        <p:nvPicPr>
          <p:cNvPr id="8" name="图片 7" descr="图表, 条形图&#10;&#10;AI 生成的内容可能不正确。">
            <a:extLst>
              <a:ext uri="{FF2B5EF4-FFF2-40B4-BE49-F238E27FC236}">
                <a16:creationId xmlns:a16="http://schemas.microsoft.com/office/drawing/2014/main" id="{4925B989-5A23-5FC7-C0F7-4E34F783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30" y="735954"/>
            <a:ext cx="478536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2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5B9A-31CF-8F79-EE06-A27A4F0A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CC2F5A7-2FAD-0E56-694F-3D8F18AB4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792478"/>
              </p:ext>
            </p:extLst>
          </p:nvPr>
        </p:nvGraphicFramePr>
        <p:xfrm>
          <a:off x="5473609" y="735954"/>
          <a:ext cx="6238673" cy="128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239">
                  <a:extLst>
                    <a:ext uri="{9D8B030D-6E8A-4147-A177-3AD203B41FA5}">
                      <a16:colId xmlns:a16="http://schemas.microsoft.com/office/drawing/2014/main" val="4101249701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64436008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870068380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903000029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3141391406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1620127239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425524162"/>
                    </a:ext>
                  </a:extLst>
                </a:gridCol>
              </a:tblGrid>
              <a:tr h="673835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Token Cost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Chain-of-Thought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CoT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Chain-of-Verification (CoVe)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 - Search Engine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mutations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our approach - vs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47714"/>
                  </a:ext>
                </a:extLst>
              </a:tr>
              <a:tr h="280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101.73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2633.25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3808.19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197.15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1763.87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596.13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62633"/>
                  </a:ext>
                </a:extLst>
              </a:tr>
              <a:tr h="280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87.03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6824.61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7828.29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188.51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1775.89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580.05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577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69CD08E-F3B2-84D2-93AA-148551C0E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88838"/>
              </p:ext>
            </p:extLst>
          </p:nvPr>
        </p:nvGraphicFramePr>
        <p:xfrm>
          <a:off x="5473609" y="2019389"/>
          <a:ext cx="6225331" cy="1276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333">
                  <a:extLst>
                    <a:ext uri="{9D8B030D-6E8A-4147-A177-3AD203B41FA5}">
                      <a16:colId xmlns:a16="http://schemas.microsoft.com/office/drawing/2014/main" val="4101249701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64436008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2870068380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2903000029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3141391406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4228366896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3963888700"/>
                    </a:ext>
                  </a:extLst>
                </a:gridCol>
              </a:tblGrid>
              <a:tr h="666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Time Cost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Chain-of-Thought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CoT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Chain-of-Verification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- Search Engine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mutations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our approach - vs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47714"/>
                  </a:ext>
                </a:extLst>
              </a:tr>
              <a:tr h="277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30.0015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35.7001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1.8135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11.2498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4.4483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62633"/>
                  </a:ext>
                </a:extLst>
              </a:tr>
              <a:tr h="277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12.4434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202.180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142.808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21.4348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187.810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36.9961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577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C0CCBC1A-83EC-228E-417D-8BB79203B20F}"/>
              </a:ext>
            </a:extLst>
          </p:cNvPr>
          <p:cNvSpPr txBox="1"/>
          <p:nvPr/>
        </p:nvSpPr>
        <p:spPr>
          <a:xfrm>
            <a:off x="479719" y="151179"/>
            <a:ext cx="1121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evaluation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图表, 条形图&#10;&#10;AI 生成的内容可能不正确。">
            <a:extLst>
              <a:ext uri="{FF2B5EF4-FFF2-40B4-BE49-F238E27FC236}">
                <a16:creationId xmlns:a16="http://schemas.microsoft.com/office/drawing/2014/main" id="{E0732084-029F-0C9E-16EA-D9609DBC2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9" y="735954"/>
            <a:ext cx="478536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0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4092</TotalTime>
  <Words>627</Words>
  <Application>Microsoft Office PowerPoint</Application>
  <PresentationFormat>宽屏</PresentationFormat>
  <Paragraphs>97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zbybr-PC</cp:lastModifiedBy>
  <cp:revision>26</cp:revision>
  <dcterms:created xsi:type="dcterms:W3CDTF">2025-10-23T01:47:16Z</dcterms:created>
  <dcterms:modified xsi:type="dcterms:W3CDTF">2025-12-15T13:01:35Z</dcterms:modified>
</cp:coreProperties>
</file>