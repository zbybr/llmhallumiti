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4BB9-73A1-D41C-F92F-3EA3D4F1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8B3972-7AD1-1633-2C19-92F39550E868}"/>
              </a:ext>
            </a:extLst>
          </p:cNvPr>
          <p:cNvSpPr txBox="1"/>
          <p:nvPr/>
        </p:nvSpPr>
        <p:spPr>
          <a:xfrm>
            <a:off x="479719" y="151179"/>
            <a:ext cx="112192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Comparison experiment on gpt-4o</a:t>
            </a:r>
          </a:p>
          <a:p>
            <a:endParaRPr lang="en-US" altLang="zh-CN" sz="2000" dirty="0"/>
          </a:p>
          <a:p>
            <a:r>
              <a:rPr lang="en-US" altLang="zh-CN" sz="2400" b="1" dirty="0"/>
              <a:t>Number of samples: </a:t>
            </a:r>
            <a:r>
              <a:rPr lang="en-US" altLang="zh-CN" sz="2000" dirty="0"/>
              <a:t>224 (85 from </a:t>
            </a:r>
            <a:r>
              <a:rPr lang="en-US" altLang="zh-CN" sz="2000" dirty="0" err="1"/>
              <a:t>TruthfulQA</a:t>
            </a:r>
            <a:r>
              <a:rPr lang="en-US" altLang="zh-CN" sz="2000" dirty="0"/>
              <a:t>, 63 from </a:t>
            </a:r>
            <a:r>
              <a:rPr lang="en-US" altLang="zh-CN" sz="2000" dirty="0" err="1"/>
              <a:t>TriviaQA</a:t>
            </a:r>
            <a:r>
              <a:rPr lang="en-US" altLang="zh-CN" sz="2000" dirty="0"/>
              <a:t>, 76 from HotpotQA)</a:t>
            </a:r>
          </a:p>
          <a:p>
            <a:endParaRPr lang="en-US" altLang="zh-CN" sz="2000" b="1" dirty="0"/>
          </a:p>
          <a:p>
            <a:r>
              <a:rPr lang="en-US" altLang="zh-CN" sz="2400" b="1" dirty="0"/>
              <a:t>Experiment result parameters:</a:t>
            </a:r>
          </a:p>
          <a:p>
            <a:r>
              <a:rPr lang="en-US" altLang="zh-CN" sz="2000" dirty="0"/>
              <a:t>Total hallucination: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  <a:r>
              <a:rPr lang="en-US" altLang="zh-CN" sz="2000" dirty="0"/>
              <a:t> in </a:t>
            </a:r>
            <a:r>
              <a:rPr lang="en-US" altLang="zh-CN" sz="2000" b="1" dirty="0" err="1"/>
              <a:t>base_response</a:t>
            </a:r>
            <a:endParaRPr lang="en-US" altLang="zh-CN" sz="2000" b="1" dirty="0"/>
          </a:p>
          <a:p>
            <a:r>
              <a:rPr lang="en-US" altLang="zh-CN" sz="2000" dirty="0"/>
              <a:t>Total hallucination after repair: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  <a:r>
              <a:rPr lang="en-US" altLang="zh-CN" sz="2000" dirty="0"/>
              <a:t> in </a:t>
            </a:r>
            <a:r>
              <a:rPr lang="en-US" altLang="zh-CN" sz="2000" b="1" dirty="0" err="1"/>
              <a:t>final_answer</a:t>
            </a:r>
            <a:r>
              <a:rPr lang="en-US" altLang="zh-CN" sz="2000" b="1" dirty="0"/>
              <a:t> </a:t>
            </a:r>
            <a:r>
              <a:rPr lang="en-US" altLang="zh-CN" sz="2000" dirty="0"/>
              <a:t>provided by approaches</a:t>
            </a:r>
          </a:p>
          <a:p>
            <a:r>
              <a:rPr lang="en-US" altLang="zh-CN" sz="2000" dirty="0"/>
              <a:t>Hallucination repair: </a:t>
            </a:r>
            <a:r>
              <a:rPr lang="en-US" altLang="zh-CN" sz="2000" b="1" dirty="0" err="1"/>
              <a:t>base_response</a:t>
            </a:r>
            <a:r>
              <a:rPr lang="en-US" altLang="zh-CN" sz="2000" b="1" dirty="0"/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  <a:r>
              <a:rPr lang="en-US" altLang="zh-CN" sz="2000" dirty="0"/>
              <a:t>, </a:t>
            </a:r>
            <a:r>
              <a:rPr lang="en-US" altLang="zh-CN" sz="2000" b="1" dirty="0" err="1"/>
              <a:t>final_answer</a:t>
            </a:r>
            <a:r>
              <a:rPr lang="en-US" altLang="zh-CN" sz="2000" b="1" dirty="0"/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olidFill>
                  <a:srgbClr val="00B0F0"/>
                </a:solidFill>
              </a:rPr>
              <a:t>not hallucination</a:t>
            </a:r>
          </a:p>
          <a:p>
            <a:r>
              <a:rPr lang="en-US" altLang="zh-CN" sz="2000" dirty="0"/>
              <a:t>unsuccessful repair: </a:t>
            </a:r>
            <a:r>
              <a:rPr lang="en-US" altLang="zh-CN" sz="2000" b="1" dirty="0" err="1"/>
              <a:t>base_response</a:t>
            </a:r>
            <a:r>
              <a:rPr lang="en-US" altLang="zh-CN" sz="2000" b="1" dirty="0"/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  <a:r>
              <a:rPr lang="en-US" altLang="zh-CN" sz="2000" dirty="0"/>
              <a:t>, </a:t>
            </a:r>
            <a:r>
              <a:rPr lang="en-US" altLang="zh-CN" sz="2000" b="1" dirty="0" err="1"/>
              <a:t>base_response</a:t>
            </a:r>
            <a:r>
              <a:rPr lang="en-US" altLang="zh-CN" sz="2000" b="1" dirty="0"/>
              <a:t> </a:t>
            </a:r>
            <a:r>
              <a:rPr lang="en-US" altLang="zh-CN" sz="2000" dirty="0"/>
              <a:t>!= </a:t>
            </a:r>
            <a:r>
              <a:rPr lang="en-US" altLang="zh-CN" sz="2000" b="1" dirty="0" err="1"/>
              <a:t>final_answer</a:t>
            </a:r>
            <a:r>
              <a:rPr lang="en-US" altLang="zh-CN" sz="2000" dirty="0"/>
              <a:t>, </a:t>
            </a:r>
            <a:r>
              <a:rPr lang="en-US" altLang="zh-CN" sz="2000" b="1" dirty="0" err="1"/>
              <a:t>final_answer</a:t>
            </a:r>
            <a:r>
              <a:rPr lang="en-US" altLang="zh-CN" sz="2000" dirty="0"/>
              <a:t> is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</a:p>
          <a:p>
            <a:r>
              <a:rPr lang="en-US" altLang="zh-CN" sz="2000" dirty="0"/>
              <a:t>Unable repair: </a:t>
            </a:r>
            <a:r>
              <a:rPr lang="en-US" altLang="zh-CN" sz="2000" b="1" dirty="0" err="1"/>
              <a:t>base_response</a:t>
            </a:r>
            <a:r>
              <a:rPr lang="en-US" altLang="zh-CN" sz="2000" b="1" dirty="0"/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  <a:r>
              <a:rPr lang="en-US" altLang="zh-CN" sz="2000" dirty="0"/>
              <a:t>, </a:t>
            </a:r>
            <a:r>
              <a:rPr lang="en-US" altLang="zh-CN" sz="2000" b="1" dirty="0" err="1"/>
              <a:t>base_response</a:t>
            </a:r>
            <a:r>
              <a:rPr lang="en-US" altLang="zh-CN" sz="2000" b="1" dirty="0"/>
              <a:t> </a:t>
            </a:r>
            <a:r>
              <a:rPr lang="en-US" altLang="zh-CN" sz="2000" dirty="0"/>
              <a:t>== </a:t>
            </a:r>
            <a:r>
              <a:rPr lang="en-US" altLang="zh-CN" sz="2000" b="1" dirty="0" err="1"/>
              <a:t>final_answer</a:t>
            </a:r>
            <a:endParaRPr lang="en-US" altLang="zh-CN" sz="2000" b="1" dirty="0"/>
          </a:p>
          <a:p>
            <a:r>
              <a:rPr lang="en-US" altLang="zh-CN" sz="2000" dirty="0"/>
              <a:t>Unnecessary repair: </a:t>
            </a:r>
            <a:r>
              <a:rPr lang="en-US" altLang="zh-CN" sz="2000" b="1" dirty="0" err="1"/>
              <a:t>base_response</a:t>
            </a:r>
            <a:r>
              <a:rPr lang="en-US" altLang="zh-CN" sz="2000" b="1" dirty="0"/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olidFill>
                  <a:srgbClr val="00B0F0"/>
                </a:solidFill>
              </a:rPr>
              <a:t>not hallucination</a:t>
            </a:r>
            <a:r>
              <a:rPr lang="en-US" altLang="zh-CN" sz="2000" dirty="0"/>
              <a:t>, </a:t>
            </a:r>
            <a:r>
              <a:rPr lang="en-US" altLang="zh-CN" sz="2000" b="1" dirty="0" err="1"/>
              <a:t>final_answer</a:t>
            </a:r>
            <a:r>
              <a:rPr lang="en-US" altLang="zh-CN" sz="2000" b="1" dirty="0"/>
              <a:t> </a:t>
            </a:r>
            <a:r>
              <a:rPr lang="en-US" altLang="zh-CN" sz="2000" dirty="0"/>
              <a:t>is </a:t>
            </a:r>
            <a:r>
              <a:rPr lang="en-US" altLang="zh-CN" sz="2000" dirty="0">
                <a:solidFill>
                  <a:srgbClr val="FF0000"/>
                </a:solidFill>
              </a:rPr>
              <a:t>hallucination</a:t>
            </a:r>
          </a:p>
          <a:p>
            <a:r>
              <a:rPr lang="en-US" altLang="zh-CN" sz="2000" dirty="0"/>
              <a:t>Avg token cost pre question</a:t>
            </a:r>
          </a:p>
          <a:p>
            <a:r>
              <a:rPr lang="en-US" altLang="zh-CN" sz="2000" dirty="0"/>
              <a:t>Avg time cost pre question</a:t>
            </a:r>
          </a:p>
        </p:txBody>
      </p:sp>
    </p:spTree>
    <p:extLst>
      <p:ext uri="{BB962C8B-B14F-4D97-AF65-F5344CB8AC3E}">
        <p14:creationId xmlns:p14="http://schemas.microsoft.com/office/powerpoint/2010/main" val="947931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33DA-5BC4-3128-4B72-2E2279D8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9776EFB-8D87-EA22-B01C-4E1567653A07}"/>
              </a:ext>
            </a:extLst>
          </p:cNvPr>
          <p:cNvSpPr txBox="1"/>
          <p:nvPr/>
        </p:nvSpPr>
        <p:spPr>
          <a:xfrm>
            <a:off x="479719" y="151179"/>
            <a:ext cx="11444159" cy="6617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Experiment results:</a:t>
            </a:r>
          </a:p>
          <a:p>
            <a:r>
              <a:rPr lang="en-US" altLang="zh-CN" sz="2000" b="1" dirty="0"/>
              <a:t>Our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approach: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r>
              <a:rPr lang="en-US" altLang="zh-CN" sz="2000" dirty="0"/>
              <a:t>Total hallucination: 49/224 (21.88%), total hallucination after repair: 32/224 (14.29%)</a:t>
            </a:r>
          </a:p>
          <a:p>
            <a:r>
              <a:rPr lang="en-US" altLang="zh-CN" sz="2000" dirty="0"/>
              <a:t>Hallucination repair: 22/49 (44.90%), unsuccessful repair: 16/49 (32.65%), unable repair: 11/49 (22.45%) </a:t>
            </a:r>
          </a:p>
          <a:p>
            <a:r>
              <a:rPr lang="en-US" altLang="zh-CN" sz="2000" dirty="0"/>
              <a:t>Unnecessary repair: 6 (2.68%)</a:t>
            </a:r>
          </a:p>
          <a:p>
            <a:r>
              <a:rPr lang="en-US" altLang="zh-CN" sz="2000" dirty="0"/>
              <a:t>Avg token cost pre question: 508.42</a:t>
            </a:r>
          </a:p>
          <a:p>
            <a:r>
              <a:rPr lang="en-US" altLang="zh-CN" sz="2000" dirty="0"/>
              <a:t>Avg time cost pre question: 2.2850s</a:t>
            </a:r>
          </a:p>
          <a:p>
            <a:endParaRPr lang="en-US" altLang="zh-CN" sz="2000" dirty="0"/>
          </a:p>
          <a:p>
            <a:r>
              <a:rPr lang="en-US" altLang="zh-CN" sz="2000" b="1" dirty="0"/>
              <a:t>ProCo-single iteration</a:t>
            </a:r>
          </a:p>
          <a:p>
            <a:r>
              <a:rPr lang="en-US" altLang="zh-CN" sz="2000" dirty="0"/>
              <a:t>Total hallucination: 66/224 (29.46%), total hallucination after repair: 74/224 (33.04%)</a:t>
            </a:r>
          </a:p>
          <a:p>
            <a:r>
              <a:rPr lang="en-US" altLang="zh-CN" sz="2000" dirty="0"/>
              <a:t>Hallucination repair: 17/66 (25.76%), unsuccessful repair: 18/66(27.27%), unable repair: 31/66(46.97%)</a:t>
            </a:r>
          </a:p>
          <a:p>
            <a:r>
              <a:rPr lang="en-US" altLang="zh-CN" sz="2000" dirty="0"/>
              <a:t>Unnecessary repair: 25</a:t>
            </a:r>
          </a:p>
          <a:p>
            <a:r>
              <a:rPr lang="en-US" altLang="zh-CN" sz="2000" dirty="0"/>
              <a:t>Avg token cost pre question: 2453.25</a:t>
            </a:r>
          </a:p>
          <a:p>
            <a:r>
              <a:rPr lang="en-US" altLang="zh-CN" sz="2000" dirty="0"/>
              <a:t>Avg time cost pre question: 20.5772s</a:t>
            </a:r>
          </a:p>
          <a:p>
            <a:endParaRPr lang="en-US" altLang="zh-CN" sz="2000" dirty="0"/>
          </a:p>
          <a:p>
            <a:r>
              <a:rPr lang="en-US" altLang="zh-CN" sz="2000" b="1" dirty="0"/>
              <a:t>ProCo-3 iterations</a:t>
            </a:r>
          </a:p>
          <a:p>
            <a:r>
              <a:rPr lang="en-US" altLang="zh-CN" sz="2000" dirty="0"/>
              <a:t>Total hallucination: 66/224 (29.46%), total hallucination after repair: 65/224 (29.02%)</a:t>
            </a:r>
          </a:p>
          <a:p>
            <a:r>
              <a:rPr lang="en-US" altLang="zh-CN" sz="2000" dirty="0"/>
              <a:t>Hallucination repair: 17/66 (25.76%), unsuccessful repair: 20/66 (30.30%), unable repair: 29/66 (43.94%)</a:t>
            </a:r>
          </a:p>
          <a:p>
            <a:r>
              <a:rPr lang="en-US" altLang="zh-CN" sz="2000" dirty="0"/>
              <a:t>Unnecessary repair: 16</a:t>
            </a:r>
          </a:p>
          <a:p>
            <a:r>
              <a:rPr lang="en-US" altLang="zh-CN" sz="2000" dirty="0"/>
              <a:t>Avg token cost pre question: 3781.87</a:t>
            </a:r>
          </a:p>
          <a:p>
            <a:r>
              <a:rPr lang="en-US" altLang="zh-CN" sz="2000" dirty="0"/>
              <a:t>Avg time cost pre question: 30.087s</a:t>
            </a:r>
          </a:p>
        </p:txBody>
      </p:sp>
    </p:spTree>
    <p:extLst>
      <p:ext uri="{BB962C8B-B14F-4D97-AF65-F5344CB8AC3E}">
        <p14:creationId xmlns:p14="http://schemas.microsoft.com/office/powerpoint/2010/main" val="356526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66D8-BF48-828A-851C-C9DE8C14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A5B922-3098-FFE2-C5C5-41A6E94CB1E9}"/>
              </a:ext>
            </a:extLst>
          </p:cNvPr>
          <p:cNvSpPr txBox="1"/>
          <p:nvPr/>
        </p:nvSpPr>
        <p:spPr>
          <a:xfrm>
            <a:off x="479719" y="151179"/>
            <a:ext cx="10899138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Our experiment result on GPT-5 with auto-thinking:</a:t>
            </a:r>
          </a:p>
          <a:p>
            <a:r>
              <a:rPr lang="en-US" altLang="zh-CN" sz="2000" dirty="0"/>
              <a:t>Total hallucination: 16/224 (7.14%), total hallucination after repair: 11/224 (4.91%)</a:t>
            </a:r>
          </a:p>
          <a:p>
            <a:r>
              <a:rPr lang="en-US" altLang="zh-CN" sz="2000" dirty="0"/>
              <a:t>Hallucination repair: 7/16 (44.90%), unsuccessful repair: 6/16 (37.50%), unable repair: 3/16 (18.75%) </a:t>
            </a:r>
          </a:p>
          <a:p>
            <a:r>
              <a:rPr lang="en-US" altLang="zh-CN" sz="2000" dirty="0"/>
              <a:t>Unnecessary repair: 3 (1.34%) </a:t>
            </a:r>
          </a:p>
          <a:p>
            <a:r>
              <a:rPr lang="en-US" altLang="zh-CN" sz="2000" dirty="0"/>
              <a:t>Avg token cost pre question:-</a:t>
            </a:r>
          </a:p>
          <a:p>
            <a:r>
              <a:rPr lang="en-US" altLang="zh-CN" sz="2000" dirty="0"/>
              <a:t>Avg time cost pre question:-</a:t>
            </a:r>
          </a:p>
        </p:txBody>
      </p:sp>
    </p:spTree>
    <p:extLst>
      <p:ext uri="{BB962C8B-B14F-4D97-AF65-F5344CB8AC3E}">
        <p14:creationId xmlns:p14="http://schemas.microsoft.com/office/powerpoint/2010/main" val="69422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274B-72A9-FC13-E7BE-D663AC6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492F690-233A-A801-D794-02C398189544}"/>
              </a:ext>
            </a:extLst>
          </p:cNvPr>
          <p:cNvSpPr txBox="1"/>
          <p:nvPr/>
        </p:nvSpPr>
        <p:spPr>
          <a:xfrm>
            <a:off x="479719" y="151179"/>
            <a:ext cx="112325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Evaluation:</a:t>
            </a:r>
          </a:p>
          <a:p>
            <a:endParaRPr lang="en-US" altLang="zh-CN" sz="2400" b="1" dirty="0"/>
          </a:p>
          <a:p>
            <a:r>
              <a:rPr lang="en-US" altLang="zh-CN" sz="2400" b="1" dirty="0"/>
              <a:t>Idea:</a:t>
            </a:r>
          </a:p>
          <a:p>
            <a:pPr marL="457200" indent="-457200">
              <a:buAutoNum type="arabicPeriod"/>
            </a:pPr>
            <a:r>
              <a:rPr lang="en-US" altLang="zh-CN" sz="2000" dirty="0"/>
              <a:t>ProCo(from paper: Large Language Models Can Self-Correct with Key Condition </a:t>
            </a:r>
            <a:r>
              <a:rPr lang="en-US" altLang="zh-CN" sz="2000" dirty="0" err="1"/>
              <a:t>Verificatio</a:t>
            </a:r>
            <a:r>
              <a:rPr lang="en-US" altLang="zh-CN" sz="2000" dirty="0"/>
              <a:t>,  </a:t>
            </a:r>
            <a:r>
              <a:rPr lang="en-US" altLang="zh-CN" sz="2000" b="1" dirty="0"/>
              <a:t>emnlp2024</a:t>
            </a:r>
            <a:r>
              <a:rPr lang="en-US" altLang="zh-CN" sz="2000" dirty="0"/>
              <a:t>) did not perform well in general QA process, although it shows great performance in math and choice-making QA, even in their paper shows that they only have 47% exact match on HotpotQA and NQ(Natural Questions).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000" dirty="0"/>
              <a:t>Source code of </a:t>
            </a:r>
            <a:r>
              <a:rPr lang="en-US" altLang="zh-CN" sz="2000" dirty="0" err="1"/>
              <a:t>CoVe</a:t>
            </a:r>
            <a:r>
              <a:rPr lang="en-US" altLang="zh-CN" sz="2000" dirty="0"/>
              <a:t>(from </a:t>
            </a:r>
            <a:r>
              <a:rPr lang="en-US" altLang="zh-CN" sz="2000" dirty="0" err="1"/>
              <a:t>paper:Chain-of-Verification</a:t>
            </a:r>
            <a:r>
              <a:rPr lang="en-US" altLang="zh-CN" sz="2000" dirty="0"/>
              <a:t> Reduces Hallucination in Large Language Models, </a:t>
            </a:r>
            <a:r>
              <a:rPr lang="en-US" altLang="zh-CN" sz="2000" b="1" dirty="0"/>
              <a:t>META AI</a:t>
            </a:r>
            <a:r>
              <a:rPr lang="en-US" altLang="zh-CN" sz="2000" dirty="0"/>
              <a:t>) has been deployed, we can try to run this as another baseline</a:t>
            </a:r>
          </a:p>
          <a:p>
            <a:pPr marL="457200" indent="-457200">
              <a:buAutoNum type="arabicPeriod"/>
            </a:pPr>
            <a:r>
              <a:rPr lang="en-US" altLang="zh-CN" sz="2000" dirty="0" err="1"/>
              <a:t>ProgCo</a:t>
            </a:r>
            <a:r>
              <a:rPr lang="en-US" altLang="zh-CN" sz="2000" dirty="0"/>
              <a:t>(from paper: </a:t>
            </a:r>
            <a:r>
              <a:rPr lang="en-US" altLang="zh-CN" sz="2000" dirty="0" err="1"/>
              <a:t>ProgCo</a:t>
            </a:r>
            <a:r>
              <a:rPr lang="en-US" altLang="zh-CN" sz="2000" dirty="0"/>
              <a:t>: Program Helps Self-Correction of Large Language Models, </a:t>
            </a:r>
            <a:r>
              <a:rPr lang="en-US" altLang="zh-CN" sz="2000" b="1" dirty="0"/>
              <a:t>ACL 2025</a:t>
            </a:r>
            <a:r>
              <a:rPr lang="en-US" altLang="zh-CN" sz="2000" dirty="0"/>
              <a:t>) we should also try this method, however their codes are hard to read and modify.</a:t>
            </a:r>
          </a:p>
          <a:p>
            <a:pPr marL="457200" indent="-457200">
              <a:buAutoNum type="arabicPeriod"/>
            </a:pPr>
            <a:r>
              <a:rPr lang="en-US" altLang="zh-CN" sz="2000" dirty="0"/>
              <a:t>Run comparison experiment on gpt-5 without auto-thinking</a:t>
            </a:r>
          </a:p>
        </p:txBody>
      </p:sp>
    </p:spTree>
    <p:extLst>
      <p:ext uri="{BB962C8B-B14F-4D97-AF65-F5344CB8AC3E}">
        <p14:creationId xmlns:p14="http://schemas.microsoft.com/office/powerpoint/2010/main" val="36043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499</Words>
  <Application>Microsoft Office PowerPoint</Application>
  <PresentationFormat>宽屏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Borui Yang</cp:lastModifiedBy>
  <cp:revision>1</cp:revision>
  <dcterms:created xsi:type="dcterms:W3CDTF">2025-10-23T01:47:16Z</dcterms:created>
  <dcterms:modified xsi:type="dcterms:W3CDTF">2025-10-23T12:41:35Z</dcterms:modified>
</cp:coreProperties>
</file>